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9"/>
                </a:solidFill>
                <a:latin typeface="Arial"/>
              </a:rPr>
              <a:t>ΔY por cada Bs 1.000 de transferencia (k_TR = c/(1−c))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Aumento de Y por cada 1.000 de bono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 = 0,60 (enunciado)</c:v>
                  </c:pt>
                  <c:pt idx="1">
                    <c:v>c = 0,70</c:v>
                  </c:pt>
                  <c:pt idx="2">
                    <c:v>c = 0,80</c:v>
                  </c:pt>
                  <c:pt idx="3">
                    <c:v>c = 0,83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1500</c:v>
                </c:pt>
                <c:pt idx="1">
                  <c:v>2333</c:v>
                </c:pt>
                <c:pt idx="2">
                  <c:v>4000</c:v>
                </c:pt>
                <c:pt idx="3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A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9"/>
                </a:solidFill>
                <a:latin typeface="Arial"/>
              </a:rPr>
              <a:t>Consumo adicional por ronda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Consumo nuevo en la ronda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Ronda 1</c:v>
                  </c:pt>
                  <c:pt idx="1">
                    <c:v>Ronda 2</c:v>
                  </c:pt>
                  <c:pt idx="2">
                    <c:v>Ronda 3</c:v>
                  </c:pt>
                  <c:pt idx="3">
                    <c:v>Ronda 4</c:v>
                  </c:pt>
                  <c:pt idx="4">
                    <c:v>Ronda 5</c:v>
                  </c:pt>
                  <c:pt idx="5">
                    <c:v>Ronda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524.4</c:v>
                </c:pt>
                <c:pt idx="1">
                  <c:v>314.6</c:v>
                </c:pt>
                <c:pt idx="2">
                  <c:v>188.8</c:v>
                </c:pt>
                <c:pt idx="3">
                  <c:v>113.3</c:v>
                </c:pt>
                <c:pt idx="4">
                  <c:v>68</c:v>
                </c:pt>
                <c:pt idx="5">
                  <c:v>40.8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9"/>
                </a:solidFill>
                <a:latin typeface="Arial"/>
              </a:rPr>
              <a:t>Acumulado → converge a 1.311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Acumulado</c:v>
                </c:pt>
              </c:strCache>
            </c:strRef>
          </c:tx>
          <c:spPr>
            <a:solidFill>
              <a:srgbClr val="1B2A49"/>
            </a:solidFill>
            <a:ln w="38100" cap="flat">
              <a:solidFill>
                <a:srgbClr val="1B2A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2A49"/>
              </a:solidFill>
              <a:ln w="9525" cap="flat">
                <a:solidFill>
                  <a:srgbClr val="1B2A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524.4</c:v>
                </c:pt>
                <c:pt idx="1">
                  <c:v>839</c:v>
                </c:pt>
                <c:pt idx="2">
                  <c:v>1027.8</c:v>
                </c:pt>
                <c:pt idx="3">
                  <c:v>1141.1</c:v>
                </c:pt>
                <c:pt idx="4">
                  <c:v>1209.1</c:v>
                </c:pt>
                <c:pt idx="5">
                  <c:v>1249.9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Impulso inicial</c:v>
                </c:pt>
              </c:strCache>
            </c:strRef>
          </c:tx>
          <c:spPr>
            <a:solidFill>
              <a:srgbClr val="1B2A4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Bono PEPE</c:v>
                  </c:pt>
                  <c:pt idx="1">
                    <c:v>Créditos Bs800 MM</c:v>
                  </c:pt>
                  <c:pt idx="2">
                    <c:v>Juancito Pinto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874</c:v>
                </c:pt>
                <c:pt idx="1">
                  <c:v>66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ΔY keynesiano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Bono PEPE</c:v>
                  </c:pt>
                  <c:pt idx="1">
                    <c:v>Créditos Bs800 MM</c:v>
                  </c:pt>
                  <c:pt idx="2">
                    <c:v>Juancito Pinto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1311</c:v>
                </c:pt>
                <c:pt idx="1">
                  <c:v>165</c:v>
                </c:pt>
                <c:pt idx="2">
                  <c:v>28.5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</c:scaling>
        <c:delete val="0"/>
        <c:axPos val="b"/>
        <c:majorGridlines>
          <c:spPr>
            <a:ln w="6350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económicas 2026 bajo el modelo IS-LM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en recesión · PMgC = 0,60 · efecto multiplicador keynesiano de seis políticas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Macroeconomía · Maestría en Gestión y Políticas Públicas (GPP) · Septiembre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analítico: IS-LM y multiplicadores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PMgC (c) = 0,60, no todas las políticas tienen el mismo multiplicador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65836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(mercado de bienes): Y = C + I + G + XN, con C = C₀ + c·(Y − T + TR). Toda medida que eleve C, I o G desplaza la IS a la derecha.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(mercado de dinero): M/P = L(Y, r). Se mueve si cambia la oferta monetaria (M) o el nivel de precios (P).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o inversión autónoma (ΔG, ΔI): entra completo al circuito en la primera ronda → k = 1/(1 − c).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o impuestos (ΔTR, −ΔT): primero pasan por el ingreso disponible; el hogar solo gasta el 60% → k_TR = c/(1 − c).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multiplicador indica cuánto se desplaza la IS (a tasa r constante). El aumento efectivo de Y es menor si r sube (efecto desplazamiento).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645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2,5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público o inversión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(1 − 0,6)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384048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4023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1,5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5074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(bonos) o rebaja de impuestos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/ (1 − 0,6)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con base en el modelo keynesiano IS-LM (Hicks-Hansen). Economía cerrada; en economía abierta, k = 1/(1 − c + m), donde m es la propensión a importar.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 sobre el ejemplo: ¿bono de 1.000 → consumo de 5.000?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 = 0,60, un bono de 1.000 genera un aumento total de ingreso de 1.500, no de 5.000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23760" y="1554480"/>
            <a:ext cx="44805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1: la familia recibe 1.000 y gasta 600 (ahorra 400).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2: esos 600 son ingreso de otros, que gastan 360; luego 216, 130, 78…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total: 600 + 360 + 216 + … = 1.500 = 1.000 × 1,5.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5.000 exigiría una PMgC de ≈ 0,83, poco realista en un país con alta propensión a importar.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lugar de un bono fuera gasto directo del Estado (obras), el efecto sería 1.000 × 2,5 = 2.500.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propia. PMgC = 0,60 según el enunciado.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recesión con LM restrictiva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ΔY efectivo será menor que el ΔY keynesiano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Recesión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ene-jun 2026: −3,34%; proyección de cierre: −3,6%. Hay capacidad ociosa: el multiplicador opera con fuerza porque la oferta puede responder sin presionar tanto los precios.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920240"/>
            <a:ext cx="731520" cy="731520"/>
          </a:xfrm>
          <a:prstGeom prst="ellipse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 que no acompaña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661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jun-2026 el BCB usa la Base Monetaria como ancla y fijó un techo de Bs134.000 MM para 2026, con OMA contractivas. Si M no crece, la política fiscal expansiva sube r → efecto desplazamiento (crowding out).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920240"/>
            <a:ext cx="731520" cy="73152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Fugas del multiplicador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5661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 con fuerte componente importado: parte del gasto adicional se va en importaciones. Déficit fiscal ≈ 7% del PIB: si las medidas se financian con emisión, el efecto termina en inflación.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BCB, Reporte de Inflación y Política Monetaria, II Trim. 2026; BCB, «Medidas de política monetaria y cambiaria» (1-sep-2026).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Sube el precio del diésel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de oferta con efecto contractivo sobre la demanda</a:t>
            </a:r>
            <a:endParaRPr lang="en-US" sz="1500" dirty="0"/>
          </a:p>
        </p:txBody>
      </p:sp>
      <p:pic>
        <p:nvPicPr>
          <p:cNvPr id="4" name="Image 0" descr="img/g1_die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la izquierda: los hogares gastan más en transporte y alimentos; el ingreso disponible para otros bienes cae (actúa como un impuesto) → C↓. Las empresas enfrentan mayores costos → I↓.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a la izquierda: el diésel encarece fletes y toda la canasta → P↑ → saldos reales M/P↓.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Y cae con claridad; el efecto sobre r es ambiguo (IS lo baja, LM lo sube).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estanflacionario: menos producto con más inflación.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 (tipo impuesto): −1,5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Bs100 MM adicionales que los hogares gastan en diésel, la demanda interna cae hasta Bs150 MM (100 × 0,6/0,4). Si el ahorro fiscal en subvención se destina a bonos, ambos efectos se compensan en la IS, pero persiste el alza de precios.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no se dispone del monto del alza; la cifra es ilustrativa. El Bono PEPE se creó junto con el ajuste de precios de combustibles (D.S. 5516, ene-2026).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Aumento del Bono PEPE: USD 874 MM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a hogares vulnerables → ingreso disponible ↑ → consumo ↑</a:t>
            </a:r>
            <a:endParaRPr lang="en-US" sz="1500" dirty="0"/>
          </a:p>
        </p:txBody>
      </p:sp>
      <p:pic>
        <p:nvPicPr>
          <p:cNvPr id="4" name="Image 0" descr="img/g2_pe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ΔTR = USD 874 MM eleva el ingreso disponible (Y − T + TR) de familias con alta propensión a consumir.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C↑ → la IS se desplaza a la derecha en k_TR × ΔTR.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LM fija (BCB restrictivo), la mayor demanda de dinero eleva r y frena parte de la inversión privada: ΔY efectivo &lt; ΔY keynesiano.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política fiscal expansiva: aumenta el déficit si no hay fuente de financiamiento nueva.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multiplicador: k_TR = 1,5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 = 1,5 × 874 = USD 1.311 MM (≈ Bs15.889 MM al TCO de Bs12,12/USD).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ronda de consumo: 0,6 × 874 = USD 524,4 MM.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 USD 874 MM según el enunciado. Programa Extraordinario de Protección y Equidad (PEPE), D.S. 5516. TCO: BCB, 1-sep-2026.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Bono PEPE: cómo se construye el efecto multiplicador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ronda gasta el 60% de lo que recibió la anterior (USD MM)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4754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0" y="484632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seis rondas ya se generó el 95% del efecto (USD 1.250 MM de 1.311). El 40% de cada ronda se ahorra: esa «fuga» es lo que limita el multiplicador a 1,5.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propia: ronda n = 874 × 0,6ⁿ. Economía cerrada, r constante.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Bs800 MM en créditos preferenciales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Transportistas de carga pesada, gremiales, artesanos y comerciantes</a:t>
            </a:r>
            <a:endParaRPr lang="en-US" sz="1500" dirty="0"/>
          </a:p>
        </p:txBody>
      </p:sp>
      <p:pic>
        <p:nvPicPr>
          <p:cNvPr id="4" name="Image 0" descr="img/g3_credi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transferencia: es financiamiento más barato. Reduce el costo del capital para esos sectores → la inversión y el capital de trabajo (I) aumentan para cada nivel de 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↑I autónoma → la IS se desplaza a la derecha con el multiplicador del gasto.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medida con mayor multiplicador por boliviano, pero con supuestos: que el crédito se desembolse, se use en actividad productiva nacional y no sustituya otro crédito.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fondeo viene del BCB, también movería la LM (compromete la meta de base monetaria).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multiplicador: k = 2,5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 máximo = 2,5 × 800 = Bs2.000 MM (≈ USD165 MM).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se ejecuta la mitad en inversión nueva, ΔY ≈ Bs1.000 MM. Se debe devolver: impulso temporal.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 Bs800 MM según el enunciado. Supuesto: desembolso total como inversión en bienes y servicios nacionales.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Juancito Pinto: de Bs200 a Bs300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condicionada a la asistencia escolar</a:t>
            </a:r>
            <a:endParaRPr lang="en-US" sz="1500" dirty="0"/>
          </a:p>
        </p:txBody>
      </p:sp>
      <p:pic>
        <p:nvPicPr>
          <p:cNvPr id="4" name="Image 0" descr="img/g4_j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Bs100 por estudiante para ≈ 2,3 millones de estudiantes (presupuesto 2026: Bs690,8 MM).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componente adicional (ΔTR ≈ Bs230 MM) sube el ingreso disponible de las familias → C↑ → IS a la derecha, desplazamiento moderado.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desde fines de septiembre: impulso concentrado en útiles, ropa y alimentos, bienes de consumo masivo.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del efecto de demanda, tiene efecto de largo plazo en capital humano (permanencia escolar).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multiplicador: k_TR = 1,5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 = 1,5 × 230 ≈ Bs345 MM (≈ USD28 MM).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ronda de consumo: 0,6 × 230 ≈ Bs138 MM.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D.S. de sep-2026 (Bs690.810.000 para la gestión 2026, Bs300 por estudiante); El Deber, sep-2026. ΔTR = (690,8/300) × 100.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Arancel cero a bienes para actividades productivas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Semillas, drones, genética, herramientas y equipos</a:t>
            </a:r>
            <a:endParaRPr lang="en-US" sz="1500" dirty="0"/>
          </a:p>
        </p:txBody>
      </p:sp>
      <p:pic>
        <p:nvPicPr>
          <p:cNvPr id="4" name="Image 0" descr="img/g5_arance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Abarata el capital importado → sube la rentabilidad de invertir → I↑ → IS a la derecha.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bien comprado es importado: esa parte del gasto sale del país (XN↓). Por eso el multiplicador sobre la producción interna es bajo.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oferta (mediano plazo): más productividad agrícola e industrial → costos↓ → P↓ → M/P↑ → la LM también se desplaza a la derecha.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fiscal: menor recaudación aduanera.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multiplicador: bajo en el corto plazo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multiplica la parte nacional del gasto (instalación, transporte, mano de obra) y la producción adicional que generen los equipos. Es la medida más «de oferta» del paquete: su efecto principal es el crecimiento potencial.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dispone del monto de la renuncia fiscal; análisis cualitativo.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Perdonazo tributario ampliado + créditos a productores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impulsos que se suman en la IS</a:t>
            </a:r>
            <a:endParaRPr lang="en-US" sz="1500" dirty="0"/>
          </a:p>
        </p:txBody>
      </p:sp>
      <p:pic>
        <p:nvPicPr>
          <p:cNvPr id="4" name="Image 0" descr="img/g6_perdonaz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en el IS-LM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828800"/>
            <a:ext cx="5212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Perdonazo (IS₀ → IS₁): la condonación de multas e intereses reduce la carga efectiva (−ΔT) → más ingreso disponible y liquidez para empresas y hogares.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a productores (IS₁ → IS₂): ↑I autónoma, igual que en la medida 3.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el perdonazo puede aumentar la recaudación en el corto plazo (se regularizan deudas), pero incentiva a esperar el próximo perdón (riesgo moral).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LM fija, r sube y el ΔY efectivo es menor que la suma de ambos multiplicadores.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4805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572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Multiplicadores combinados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 = 1,5 × (−ΔT) + 2,5 × ΔI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Bs100 MM en cada uno: 150 + 250 = Bs400 MM.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montos no están definidos en el enunciado.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no especificados; cifras ilustrativas.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las seis medidas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curva se mueve, en qué dirección y con qué multiplicador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1554480"/>
                <a:gridCol w="1920240"/>
                <a:gridCol w="155448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impulso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ΔY keynesiano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Alza del diésel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Choque de oferta / tipo impuesto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izquierda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izquierda (P↑)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Contractivo (monto no definido)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Bono PEPE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Transferencia (ΔTR)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USD1.311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Créditos preferenciales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(ΔI)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(salvo emisión)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Bs2.000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Juancito Pinto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Transferencia (ΔTR)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 (leve)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Bs345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Arancel cero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+ oferta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 (leve)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 (mediano plazo)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(fuga importadora)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Perdonazo + créditos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Impuestos (−ΔT) + ΔI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derecha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y 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no definido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propia. PMgC = 0,60. TCO Bs12,12/USD (BCB, 1-sep-2026).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del impacto cuantificable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 inicial vs. ΔY keynesiano (USD MM, a Bs12,12/USD)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463040"/>
            <a:ext cx="4480560" cy="4754880"/>
          </a:xfrm>
          <a:prstGeom prst="roundRect">
            <a:avLst>
              <a:gd name="adj" fmla="val 163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06640" y="155448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Bono PEPE es el mayor impulso por escala, pero los créditos tienen el mayor multiplicador por unidad (2,5 vs 1,5).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alza del diésel resta demanda y eleva precios: neutraliza parte del efecto de los bonos.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BCB que restringe la base monetaria, el efecto real será menor al keynesiano (r↑). Si el déficit se financia con emisión, el resultado será más inflación, no más producto.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propia. Créditos y Juancito Pinto convertidos a USD al TCO de Bs12,12/USD.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2026-09-19T13:29:43Z</dcterms:created>
  <dcterms:modified xsi:type="dcterms:W3CDTF">2026-09-19T13:29:43Z</dcterms:modified>
</cp:coreProperties>
</file>