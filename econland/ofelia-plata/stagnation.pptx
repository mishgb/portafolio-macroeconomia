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a416bc16344a57" /><Relationship Type="http://schemas.openxmlformats.org/officeDocument/2006/relationships/extended-properties" Target="/docProps/app.xml" Id="R4ca6e9380ce94040" /><Relationship Type="http://schemas.openxmlformats.org/officeDocument/2006/relationships/officeDocument" Target="/ppt/presentation.xml" Id="Ra5ba523ecdf24913" /></Relationships>
</file>

<file path=ppt/presentation.xml><?xml version="1.0" encoding="utf-8"?>
<p:presentation xmlns:p="http://schemas.openxmlformats.org/presentationml/2006/main">
  <p:sldMasterIdLst>
    <p:sldMasterId xmlns:r="http://schemas.openxmlformats.org/officeDocument/2006/relationships" id="2147483648" r:id="Rb99aa87fb55144fb"/>
  </p:sldMasterIdLst>
  <p:notesMasterIdLst>
    <p:notesMasterId xmlns:r="http://schemas.openxmlformats.org/officeDocument/2006/relationships" r:id="R76381f6eb59d4245"/>
  </p:notesMasterIdLst>
  <p:sldIdLst>
    <p:sldId xmlns:r="http://schemas.openxmlformats.org/officeDocument/2006/relationships" id="256" r:id="R8ab3ac5383704851"/>
    <p:sldId xmlns:r="http://schemas.openxmlformats.org/officeDocument/2006/relationships" id="257" r:id="R0e3711f3870c4b52"/>
    <p:sldId xmlns:r="http://schemas.openxmlformats.org/officeDocument/2006/relationships" id="258" r:id="Re7d1619580c0458b"/>
    <p:sldId xmlns:r="http://schemas.openxmlformats.org/officeDocument/2006/relationships" id="259" r:id="Rdd77e25841c2408f"/>
    <p:sldId xmlns:r="http://schemas.openxmlformats.org/officeDocument/2006/relationships" id="260" r:id="Rbe3c06a29fa5437a"/>
    <p:sldId xmlns:r="http://schemas.openxmlformats.org/officeDocument/2006/relationships" id="261" r:id="R64fc671d5402493d"/>
    <p:sldId xmlns:r="http://schemas.openxmlformats.org/officeDocument/2006/relationships" id="262" r:id="R706d038ef5a644ef"/>
    <p:sldId xmlns:r="http://schemas.openxmlformats.org/officeDocument/2006/relationships" id="263" r:id="R8757be6b7d034871"/>
    <p:sldId xmlns:r="http://schemas.openxmlformats.org/officeDocument/2006/relationships" id="264" r:id="R5e01788b19be40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1c4f230a8844f6" /><Relationship Type="http://schemas.openxmlformats.org/officeDocument/2006/relationships/slideMaster" Target="/ppt/slideMasters/slideMaster1.xml" Id="Rb99aa87fb55144fb" /><Relationship Type="http://schemas.openxmlformats.org/officeDocument/2006/relationships/notesMaster" Target="/ppt/notesMasters/notesMaster1.xml" Id="R76381f6eb59d4245" /><Relationship Type="http://schemas.openxmlformats.org/officeDocument/2006/relationships/presProps" Target="/ppt/presProps.xml" Id="Rf5e7f8e8a9294d9b" /><Relationship Type="http://schemas.openxmlformats.org/officeDocument/2006/relationships/tableStyles" Target="/ppt/tableStyles.xml" Id="R910b993b579645bf" /><Relationship Type="http://schemas.openxmlformats.org/officeDocument/2006/relationships/slide" Target="/ppt/slides/slide1.xml" Id="R8ab3ac5383704851" /><Relationship Type="http://schemas.openxmlformats.org/officeDocument/2006/relationships/slide" Target="/ppt/slides/slide2.xml" Id="R0e3711f3870c4b52" /><Relationship Type="http://schemas.openxmlformats.org/officeDocument/2006/relationships/slide" Target="/ppt/slides/slide3.xml" Id="Re7d1619580c0458b" /><Relationship Type="http://schemas.openxmlformats.org/officeDocument/2006/relationships/slide" Target="/ppt/slides/slide4.xml" Id="Rdd77e25841c2408f" /><Relationship Type="http://schemas.openxmlformats.org/officeDocument/2006/relationships/slide" Target="/ppt/slides/slide5.xml" Id="Rbe3c06a29fa5437a" /><Relationship Type="http://schemas.openxmlformats.org/officeDocument/2006/relationships/slide" Target="/ppt/slides/slide6.xml" Id="R64fc671d5402493d" /><Relationship Type="http://schemas.openxmlformats.org/officeDocument/2006/relationships/slide" Target="/ppt/slides/slide7.xml" Id="R706d038ef5a644ef" /><Relationship Type="http://schemas.openxmlformats.org/officeDocument/2006/relationships/slide" Target="/ppt/slides/slide8.xml" Id="R8757be6b7d034871" /><Relationship Type="http://schemas.openxmlformats.org/officeDocument/2006/relationships/slide" Target="/ppt/slides/slide9.xml" Id="R5e01788b19be40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f4a45ac6fa48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c091979e2b430d" /><Relationship Type="http://schemas.openxmlformats.org/officeDocument/2006/relationships/notesMaster" Target="/ppt/notesMasters/notesMaster1.xml" Id="Rbdb2774bd23747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bfd4c7df764d0d" /><Relationship Type="http://schemas.openxmlformats.org/officeDocument/2006/relationships/notesMaster" Target="/ppt/notesMasters/notesMaster1.xml" Id="R0940b4ee192646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57eba4606043ca" /><Relationship Type="http://schemas.openxmlformats.org/officeDocument/2006/relationships/notesMaster" Target="/ppt/notesMasters/notesMaster1.xml" Id="R7336639253a54b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e2667925f540e4" /><Relationship Type="http://schemas.openxmlformats.org/officeDocument/2006/relationships/notesMaster" Target="/ppt/notesMasters/notesMaster1.xml" Id="Rb50c9495402741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e4a234a935436f" /><Relationship Type="http://schemas.openxmlformats.org/officeDocument/2006/relationships/notesMaster" Target="/ppt/notesMasters/notesMaster1.xml" Id="R6077b7b5bb5e49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5eaed6e83c4a81" /><Relationship Type="http://schemas.openxmlformats.org/officeDocument/2006/relationships/notesMaster" Target="/ppt/notesMasters/notesMaster1.xml" Id="R4ca328d17f9e4b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447513437d4788" /><Relationship Type="http://schemas.openxmlformats.org/officeDocument/2006/relationships/notesMaster" Target="/ppt/notesMasters/notesMaster1.xml" Id="Rfdc946f0419142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fff73e44644844" /><Relationship Type="http://schemas.openxmlformats.org/officeDocument/2006/relationships/notesMaster" Target="/ppt/notesMasters/notesMaster1.xml" Id="R4e0a6390ab764f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227406a62c4129" /><Relationship Type="http://schemas.openxmlformats.org/officeDocument/2006/relationships/notesMaster" Target="/ppt/notesMasters/notesMaster1.xml" Id="R182b51eac8494f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presentación analiza exclusivamente las tablas finales del archivo adjunto. El resultado principal combina una expansión acumulada del PIB real con crecimiento débil al cierre y déficit fiscal persistente. El PIB real pasa de 100,0 a 115,7, mientras el crecimiento del año 7 alcanza solo 0,7%. La deuda como proporción del PIB baja, pero su monto nominal aumenta. Las cifras permiten evaluar la secuencia de decisiones y resultados, aunque no identificar efectos causales aislados. La fuente contiene reportes numéricos y un comentario del asesor, pero no un informe narrativo que explique los objetivos originales ni el nombre del autor.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año inicial combina un PIB real de 100,0 con crecimiento de 2,5%, inflación de 2,0% y desempleo de 5,0%. El presupuesto registra un déficit de 3,0% del PIB y la deuda equivale a 60,0% del producto. Por tanto, existía un margen fiscal condicionado por desequilibrios previos. La previsión de crecimiento mundial baja hasta 1,0% en el año 5 y luego mejora a 2,0% en el año 7. Esta serie representa una previsión, no el crecimiento mundial efectivamente realizado. El desafío consistía en sostener la demanda interna sin agravar excesivamente los precios ni la posición fiscal.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recoge todas las decisiones de los siete años. El gasto público sube de 30,0 en el año inicial a 40,0 al cierre. En el año 2, el impuesto sobre la renta aumenta de 24% a 27%, coincidiendo con una fuerte reducción del déficit y una caída de la actividad. Después baja a 26%. La tasa corporativa disminuye gradualmente hasta 28%. Desde el año 4, el interés cae de 3,0% a 2,5% y luego a 2,0%. Estos cambios son compatibles con objetivos de apoyo a la demanda y consolidación fiscal, pero la fuente no documenta expresamente la intención original de cada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consumo pasa de 55,0 a 78,3 y la inversión de 15,0 a 18,7 entre el año inicial y el año 7. Sus incrementos nominales son aproximadamente 42,4% y 24,7%, respectivamente. El PIB nominal aumenta 34,2%, frente a un avance real de 15,7%. Por ello, los cambios en los componentes no deben interpretarse directamente como variaciones de volumen. Aunque el encabezado de la tabla menciona PIB real, sus componentes suman el PIB nominal, sujeto al redondeo. El mayor gasto y el menor interés pudieron contribuir a sostener la demanda. Sin un contrafactual, no puede cuantificarse su efecto separado.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año 5 presenta una previsión mundial de 1,0%, interés de 2,0% y gasto de 37,0. El crecimiento real alcanza solo 0,5% y el desempleo sube a 6,5%. En el año 6, la previsión mejora a 1,3% y el gasto aumenta a 39,0, mientras el interés permanece constante. El crecimiento repunta a 3,7% y la inflación baja a 0,6%. En el año 7, el gasto llega a 40,0 y la previsión mundial a 2,0%, pero el crecimiento cae a 0,7% y la inflación sube a 2,5%. La fuente no explica definitivamente esta divergencia ni registra una subida del interés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inflación oscila durante toda la simulación y alcanza su máximo de 4,6% en el año 2. El año 6 registra 0,6% y el cierre 2,5%. El desempleo baja inicialmente a 3,3%, pero luego aumenta hasta 6,5% en el año 5. Termina en 5,2%, ligeramente por encima del 5,0% inicial. Así, la recuperación del empleo desde el año 5 no equivale a una mejora frente al inicio. El mayor gasto y la reducción del interés son compatibles con estímulo a la demanda, pero las fluctuaciones de precios requieren explicaciones adicionales. No hubo ajuste monetario restrictivo final: el interés permaneció en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déficit persiste durante los ocho puntos observados. Pasa de 3,0% del PIB al inicio a 1,0% al cierre, aunque empeora en el año 1 y fluctúa después. La deuda nominal aumenta de 60,0 a 71,7, un incremento de 19,5%. El PIB nominal crece de 100,0 a 134,2, equivalente a 34,2%. Como el denominador crece más rápido, la deuda sobre PIB disminuye de 60,0% a 53,4%, una caída de 6,6 puntos porcentuales. Esta mejora relativa no constituye una reducción de deuda nominal ni un paso al superávit. Tampoco demuestra que las rebajas tributarias hayan financiado por sí mismas el gasto.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exportaciones aumentan de 25,0 a 30,4 y las importaciones de 25,0 a 33,2. Esto equivale a avances nominales de 21,6% y 32,8%. El saldo comercial final es negativo en 2,8, equivalente a aproximadamente 2,1% del PIB nominal de 134,2. El crecimiento más rápido de las compras externas es compatible con una mayor demanda interna de bienes importados, aunque la fuente no separa cantidades y precios ni demuestra un canal causal específico. El índice cambiario baja de 100,0 a 93,2, pero no se incluye su definición. Por eso no se interpreta como apreciación o depreciación. La aprobación promedio reportada es de 69 puntos.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evaluación distingue tres dimensiones. La actividad crece en términos acumulados, pero el 0,7% final muestra una recuperación insuficientemente sostenida. La posición fiscal mejora respecto del inicio en términos de déficit y deuda sobre PIB, aunque persisten déficits y aumenta la deuda nominal. El mercado laboral termina con desempleo ligeramente superior al inicial. Las prioridades propuestas son evaluar medidas que eleven productividad y empleo, mantener una trayectoria fiscal sostenible y vigilar precios y déficit externo. Son recomendaciones analíticas, no decisiones ya ejecutadas. El comentario final del asesor habla de recesión, pero el dato tabulado indica crecimiento positivo de 0,7%. Por ello se describe desaceleración, no recesión demostrada.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1659d67304a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07b148e42e43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61e717769a4c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e3395c4e3546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036b396f3a4d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dae540980148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BC702-8142-4D04-BA90-ACF96089D6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5BD054-15BA-4445-9E5B-B68CEE380C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5B53FE-5637-411A-BBCE-8DD990A9EC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13C617-B6FE-44E9-BD81-A3B2A7281C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C3AC00-18A1-4A1F-80F6-AFFA90D546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72A32E-BE56-441D-951E-0E1DBB30E1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E796D0-E40A-4BEE-B424-85689DB216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241038-FC38-45FA-9639-B79EE29781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CE0AED-C717-4037-96C4-5C78BC67C9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BF5B9-7850-48F4-891F-2332894B1A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f8b16520684075" /><Relationship Type="http://schemas.openxmlformats.org/officeDocument/2006/relationships/slideLayout" Target="/ppt/slideLayouts/slideLayout1.xml" Id="R978da6b230dc4c01" /><Relationship Type="http://schemas.openxmlformats.org/officeDocument/2006/relationships/slideLayout" Target="/ppt/slideLayouts/slideLayout2.xml" Id="R75187723d4fa4fff" /><Relationship Type="http://schemas.openxmlformats.org/officeDocument/2006/relationships/slideLayout" Target="/ppt/slideLayouts/slideLayout3.xml" Id="Rad3c8a4a21624c0d" /><Relationship Type="http://schemas.openxmlformats.org/officeDocument/2006/relationships/slideLayout" Target="/ppt/slideLayouts/slideLayout4.xml" Id="Rbc5498c707614daa" /><Relationship Type="http://schemas.openxmlformats.org/officeDocument/2006/relationships/slideLayout" Target="/ppt/slideLayouts/slideLayout5.xml" Id="R73aded05361e43ca" /><Relationship Type="http://schemas.openxmlformats.org/officeDocument/2006/relationships/slideLayout" Target="/ppt/slideLayouts/slideLayout6.xml" Id="R2b3bbd7ac42249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8da6b230dc4c01"/>
    <p:sldLayoutId xmlns:r="http://schemas.openxmlformats.org/officeDocument/2006/relationships" id="2147483650" r:id="R75187723d4fa4fff"/>
    <p:sldLayoutId xmlns:r="http://schemas.openxmlformats.org/officeDocument/2006/relationships" id="2147483651" r:id="Rad3c8a4a21624c0d"/>
    <p:sldLayoutId xmlns:r="http://schemas.openxmlformats.org/officeDocument/2006/relationships" id="2147483652" r:id="Rbc5498c707614daa"/>
    <p:sldLayoutId xmlns:r="http://schemas.openxmlformats.org/officeDocument/2006/relationships" id="2147483653" r:id="R73aded05361e43ca"/>
    <p:sldLayoutId xmlns:r="http://schemas.openxmlformats.org/officeDocument/2006/relationships" id="2147483654" r:id="R2b3bbd7ac42249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f82e3983334eac" /><Relationship Type="http://schemas.openxmlformats.org/officeDocument/2006/relationships/notesSlide" Target="/ppt/notesSlides/notesSlide1.xml" Id="R0001d8993cbf4e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c38f232bb64fa4" /><Relationship Type="http://schemas.openxmlformats.org/officeDocument/2006/relationships/chart" Target="/ppt/slides/charts/chart1.xml" Id="R24fa6b8151f54177" /><Relationship Type="http://schemas.openxmlformats.org/officeDocument/2006/relationships/notesSlide" Target="/ppt/notesSlides/notesSlide2.xml" Id="R87caeffa237e42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8c863cd13e455d" /><Relationship Type="http://schemas.openxmlformats.org/officeDocument/2006/relationships/notesSlide" Target="/ppt/notesSlides/notesSlide3.xml" Id="R1bf67ba6173348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721f0e48724726" /><Relationship Type="http://schemas.openxmlformats.org/officeDocument/2006/relationships/chart" Target="/ppt/slides/charts/chart2.xml" Id="Re5d998d481e848e3" /><Relationship Type="http://schemas.openxmlformats.org/officeDocument/2006/relationships/notesSlide" Target="/ppt/notesSlides/notesSlide4.xml" Id="Rd305f2cd34ef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0b3b2a2a9247e0" /><Relationship Type="http://schemas.openxmlformats.org/officeDocument/2006/relationships/notesSlide" Target="/ppt/notesSlides/notesSlide5.xml" Id="R7ae6aa8343884d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cda4076e6c4453" /><Relationship Type="http://schemas.openxmlformats.org/officeDocument/2006/relationships/chart" Target="/ppt/slides/charts/chart3.xml" Id="Rfa9c230b3ea24f4e" /><Relationship Type="http://schemas.openxmlformats.org/officeDocument/2006/relationships/chart" Target="/ppt/slides/charts/chart4.xml" Id="Re149e0901278405a" /><Relationship Type="http://schemas.openxmlformats.org/officeDocument/2006/relationships/notesSlide" Target="/ppt/notesSlides/notesSlide6.xml" Id="Re8b29ceabb0342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84c3cd7f3f404c" /><Relationship Type="http://schemas.openxmlformats.org/officeDocument/2006/relationships/chart" Target="/ppt/slides/charts/chart5.xml" Id="Rc8c9ae6eabbd4c23" /><Relationship Type="http://schemas.openxmlformats.org/officeDocument/2006/relationships/notesSlide" Target="/ppt/notesSlides/notesSlide7.xml" Id="Rbe820e0326ab43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457a997c344a98" /><Relationship Type="http://schemas.openxmlformats.org/officeDocument/2006/relationships/chart" Target="/ppt/slides/charts/chart6.xml" Id="Rd1c03b34b68d4b01" /><Relationship Type="http://schemas.openxmlformats.org/officeDocument/2006/relationships/notesSlide" Target="/ppt/notesSlides/notesSlide8.xml" Id="R48ea2baa6bc04e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1073123cef4808" /><Relationship Type="http://schemas.openxmlformats.org/officeDocument/2006/relationships/notesSlide" Target="/ppt/notesSlides/notesSlide9.xml" Id="R94adc36de5bb43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Previsión</c:v>
          </c:tx>
          <c:spPr>
            <a:solidFill xmlns:a="http://schemas.openxmlformats.org/drawingml/2006/main">
              <a:srgbClr val="12304B"/>
            </a:solidFill>
            <a:ln xmlns:a="http://schemas.openxmlformats.org/drawingml/2006/main" w="28575">
              <a:solidFill>
                <a:srgbClr val="12304B"/>
              </a:solidFill>
              <a:prstDash val="solid"/>
            </a:ln>
          </c:spPr>
          <c:marker>
            <c:symbol val="circle"/>
            <c:size val="5"/>
            <c:spPr>
              <a:solidFill xmlns:a="http://schemas.openxmlformats.org/drawingml/2006/main">
                <a:srgbClr val="12304B"/>
              </a:solidFill>
            </c:spPr>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2.4</c:v>
                </c:pt>
                <c:pt idx="1">
                  <c:v>2.4</c:v>
                </c:pt>
                <c:pt idx="2">
                  <c:v>2.8</c:v>
                </c:pt>
                <c:pt idx="3">
                  <c:v>2</c:v>
                </c:pt>
                <c:pt idx="4">
                  <c:v>1.6</c:v>
                </c:pt>
                <c:pt idx="5">
                  <c:v>1</c:v>
                </c:pt>
                <c:pt idx="6">
                  <c:v>1.3</c:v>
                </c:pt>
                <c:pt idx="7">
                  <c:v>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3"/>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Consumo</c:v>
          </c:tx>
          <c:spPr>
            <a:solidFill xmlns:a="http://schemas.openxmlformats.org/drawingml/2006/main">
              <a:srgbClr val="12304B"/>
            </a:solidFill>
            <a:ln xmlns:a="http://schemas.openxmlformats.org/drawingml/2006/main" w="28575">
              <a:solidFill>
                <a:srgbClr val="12304B"/>
              </a:solidFill>
              <a:prstDash val="solid"/>
            </a:ln>
          </c:spPr>
          <c:marker>
            <c:symbol val="circle"/>
            <c:size val="5"/>
            <c:spPr>
              <a:solidFill xmlns:a="http://schemas.openxmlformats.org/drawingml/2006/main">
                <a:srgbClr val="12304B"/>
              </a:solidFill>
            </c:spPr>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55</c:v>
                </c:pt>
                <c:pt idx="1">
                  <c:v>62.3</c:v>
                </c:pt>
                <c:pt idx="2">
                  <c:v>63.7</c:v>
                </c:pt>
                <c:pt idx="3">
                  <c:v>68.9</c:v>
                </c:pt>
                <c:pt idx="4">
                  <c:v>70.9</c:v>
                </c:pt>
                <c:pt idx="5">
                  <c:v>72.9</c:v>
                </c:pt>
                <c:pt idx="6">
                  <c:v>76.8</c:v>
                </c:pt>
                <c:pt idx="7">
                  <c:v>78.3</c:v>
                </c:pt>
              </c:numCache>
            </c:numRef>
          </c:val>
          <c:smooth val="0"/>
        </c:ser>
        <c:ser>
          <c:idx val="1"/>
          <c:order val="1"/>
          <c:tx>
            <c:v>Inversión</c:v>
          </c:tx>
          <c:spPr>
            <a:solidFill xmlns:a="http://schemas.openxmlformats.org/drawingml/2006/main">
              <a:srgbClr val="007E87"/>
            </a:solidFill>
            <a:ln xmlns:a="http://schemas.openxmlformats.org/drawingml/2006/main" w="28575">
              <a:solidFill>
                <a:srgbClr val="007E87"/>
              </a:solidFill>
              <a:prstDash val="solid"/>
            </a:ln>
          </c:spPr>
          <c:marker>
            <c:symbol val="circle"/>
            <c:size val="5"/>
            <c:spPr>
              <a:solidFill xmlns:a="http://schemas.openxmlformats.org/drawingml/2006/main">
                <a:srgbClr val="007E87"/>
              </a:solidFill>
            </c:spPr>
          </c:marker>
          <c:cat>
            <c:numRef>
              <c:f>'Chart Data'!$C$2:$C$9</c:f>
              <c:numCache>
                <c:formatCode>General</c:formatCode>
                <c:ptCount val="8"/>
                <c:pt idx="0">
                  <c:v>0</c:v>
                </c:pt>
                <c:pt idx="1">
                  <c:v>1</c:v>
                </c:pt>
                <c:pt idx="2">
                  <c:v>2</c:v>
                </c:pt>
                <c:pt idx="3">
                  <c:v>3</c:v>
                </c:pt>
                <c:pt idx="4">
                  <c:v>4</c:v>
                </c:pt>
                <c:pt idx="5">
                  <c:v>5</c:v>
                </c:pt>
                <c:pt idx="6">
                  <c:v>6</c:v>
                </c:pt>
                <c:pt idx="7">
                  <c:v>7</c:v>
                </c:pt>
              </c:numCache>
            </c:numRef>
          </c:cat>
          <c:val>
            <c:numRef>
              <c:f>'Chart Data'!$D$2:$D$9</c:f>
              <c:numCache>
                <c:formatCode>0.0</c:formatCode>
                <c:ptCount val="8"/>
                <c:pt idx="0">
                  <c:v>15</c:v>
                </c:pt>
                <c:pt idx="1">
                  <c:v>15.2</c:v>
                </c:pt>
                <c:pt idx="2">
                  <c:v>16.1</c:v>
                </c:pt>
                <c:pt idx="3">
                  <c:v>17.4</c:v>
                </c:pt>
                <c:pt idx="4">
                  <c:v>17</c:v>
                </c:pt>
                <c:pt idx="5">
                  <c:v>17.7</c:v>
                </c:pt>
                <c:pt idx="6">
                  <c:v>17.9</c:v>
                </c:pt>
                <c:pt idx="7">
                  <c:v>18.7</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US$ miles de millones</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1616C"/>
              </a:solidFill>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Inflación</c:v>
          </c:tx>
          <c:spPr>
            <a:solidFill xmlns:a="http://schemas.openxmlformats.org/drawingml/2006/main">
              <a:srgbClr val="12304B"/>
            </a:solidFill>
            <a:ln xmlns:a="http://schemas.openxmlformats.org/drawingml/2006/main" w="28575">
              <a:solidFill>
                <a:srgbClr val="12304B"/>
              </a:solidFill>
              <a:prstDash val="solid"/>
            </a:ln>
          </c:spPr>
          <c:marker>
            <c:symbol val="circle"/>
            <c:size val="5"/>
            <c:spPr>
              <a:solidFill xmlns:a="http://schemas.openxmlformats.org/drawingml/2006/main">
                <a:srgbClr val="12304B"/>
              </a:solidFill>
            </c:spPr>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2</c:v>
                </c:pt>
                <c:pt idx="1">
                  <c:v>2</c:v>
                </c:pt>
                <c:pt idx="2">
                  <c:v>4.6</c:v>
                </c:pt>
                <c:pt idx="3">
                  <c:v>1.9</c:v>
                </c:pt>
                <c:pt idx="4">
                  <c:v>1.1</c:v>
                </c:pt>
                <c:pt idx="5">
                  <c:v>3.2</c:v>
                </c:pt>
                <c:pt idx="6">
                  <c:v>0.6</c:v>
                </c:pt>
                <c:pt idx="7">
                  <c:v>2.5</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7"/>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Desempleo</c:v>
          </c:tx>
          <c:spPr>
            <a:solidFill xmlns:a="http://schemas.openxmlformats.org/drawingml/2006/main">
              <a:srgbClr val="12304B"/>
            </a:solidFill>
            <a:ln xmlns:a="http://schemas.openxmlformats.org/drawingml/2006/main" w="28575">
              <a:solidFill>
                <a:srgbClr val="12304B"/>
              </a:solidFill>
              <a:prstDash val="solid"/>
            </a:ln>
          </c:spPr>
          <c:marker>
            <c:symbol val="circle"/>
            <c:size val="5"/>
            <c:spPr>
              <a:solidFill xmlns:a="http://schemas.openxmlformats.org/drawingml/2006/main">
                <a:srgbClr val="12304B"/>
              </a:solidFill>
            </c:spPr>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5</c:v>
                </c:pt>
                <c:pt idx="1">
                  <c:v>3.3</c:v>
                </c:pt>
                <c:pt idx="2">
                  <c:v>5.1</c:v>
                </c:pt>
                <c:pt idx="3">
                  <c:v>5.9</c:v>
                </c:pt>
                <c:pt idx="4">
                  <c:v>4.9</c:v>
                </c:pt>
                <c:pt idx="5">
                  <c:v>6.5</c:v>
                </c:pt>
                <c:pt idx="6">
                  <c:v>5.3</c:v>
                </c:pt>
                <c:pt idx="7">
                  <c:v>5.2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7"/>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Saldo fiscal</c:v>
          </c:tx>
          <c:spPr>
            <a:solidFill xmlns:a="http://schemas.openxmlformats.org/drawingml/2006/main">
              <a:srgbClr val="12304B"/>
            </a:solidFill>
            <a:ln xmlns:a="http://schemas.openxmlformats.org/drawingml/2006/main" w="28575">
              <a:solidFill>
                <a:srgbClr val="12304B"/>
              </a:solidFill>
              <a:prstDash val="solid"/>
            </a:ln>
          </c:spPr>
          <c:invertIfNegative val="0"/>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-3</c:v>
                </c:pt>
                <c:pt idx="1">
                  <c:v>-4.6</c:v>
                </c:pt>
                <c:pt idx="2">
                  <c:v>-0.5</c:v>
                </c:pt>
                <c:pt idx="3">
                  <c:v>-1.7</c:v>
                </c:pt>
                <c:pt idx="4">
                  <c:v>-1.1</c:v>
                </c:pt>
                <c:pt idx="5">
                  <c:v>-1</c:v>
                </c:pt>
                <c:pt idx="6">
                  <c:v>-1.5</c:v>
                </c:pt>
                <c:pt idx="7">
                  <c:v>-1.4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dLblPos val="t"/>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0"/>
          <c:min val="-5"/>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US$ miles de millones</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Exportaciones</c:v>
          </c:tx>
          <c:spPr>
            <a:solidFill xmlns:a="http://schemas.openxmlformats.org/drawingml/2006/main">
              <a:srgbClr val="12304B"/>
            </a:solidFill>
            <a:ln xmlns:a="http://schemas.openxmlformats.org/drawingml/2006/main" w="28575">
              <a:solidFill>
                <a:srgbClr val="12304B"/>
              </a:solidFill>
              <a:prstDash val="solid"/>
            </a:ln>
          </c:spPr>
          <c:marker>
            <c:symbol val="circle"/>
            <c:size val="5"/>
            <c:spPr>
              <a:solidFill xmlns:a="http://schemas.openxmlformats.org/drawingml/2006/main">
                <a:srgbClr val="12304B"/>
              </a:solidFill>
            </c:spPr>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0.0</c:formatCode>
                <c:ptCount val="8"/>
                <c:pt idx="0">
                  <c:v>25</c:v>
                </c:pt>
                <c:pt idx="1">
                  <c:v>25.6</c:v>
                </c:pt>
                <c:pt idx="2">
                  <c:v>26.6</c:v>
                </c:pt>
                <c:pt idx="3">
                  <c:v>27.3</c:v>
                </c:pt>
                <c:pt idx="4">
                  <c:v>28.2</c:v>
                </c:pt>
                <c:pt idx="5">
                  <c:v>28.9</c:v>
                </c:pt>
                <c:pt idx="6">
                  <c:v>29.5</c:v>
                </c:pt>
                <c:pt idx="7">
                  <c:v>30.4</c:v>
                </c:pt>
              </c:numCache>
            </c:numRef>
          </c:val>
          <c:smooth val="0"/>
        </c:ser>
        <c:ser>
          <c:idx val="1"/>
          <c:order val="1"/>
          <c:tx>
            <c:v>Importaciones</c:v>
          </c:tx>
          <c:spPr>
            <a:solidFill xmlns:a="http://schemas.openxmlformats.org/drawingml/2006/main">
              <a:srgbClr val="007E87"/>
            </a:solidFill>
            <a:ln xmlns:a="http://schemas.openxmlformats.org/drawingml/2006/main" w="28575">
              <a:solidFill>
                <a:srgbClr val="007E87"/>
              </a:solidFill>
              <a:prstDash val="solid"/>
            </a:ln>
          </c:spPr>
          <c:marker>
            <c:symbol val="circle"/>
            <c:size val="5"/>
            <c:spPr>
              <a:solidFill xmlns:a="http://schemas.openxmlformats.org/drawingml/2006/main">
                <a:srgbClr val="007E87"/>
              </a:solidFill>
            </c:spPr>
          </c:marker>
          <c:cat>
            <c:numRef>
              <c:f>'Chart Data'!$C$2:$C$9</c:f>
              <c:numCache>
                <c:formatCode>General</c:formatCode>
                <c:ptCount val="8"/>
                <c:pt idx="0">
                  <c:v>0</c:v>
                </c:pt>
                <c:pt idx="1">
                  <c:v>1</c:v>
                </c:pt>
                <c:pt idx="2">
                  <c:v>2</c:v>
                </c:pt>
                <c:pt idx="3">
                  <c:v>3</c:v>
                </c:pt>
                <c:pt idx="4">
                  <c:v>4</c:v>
                </c:pt>
                <c:pt idx="5">
                  <c:v>5</c:v>
                </c:pt>
                <c:pt idx="6">
                  <c:v>6</c:v>
                </c:pt>
                <c:pt idx="7">
                  <c:v>7</c:v>
                </c:pt>
              </c:numCache>
            </c:numRef>
          </c:cat>
          <c:val>
            <c:numRef>
              <c:f>'Chart Data'!$D$2:$D$9</c:f>
              <c:numCache>
                <c:formatCode>0.0</c:formatCode>
                <c:ptCount val="8"/>
                <c:pt idx="0">
                  <c:v>25</c:v>
                </c:pt>
                <c:pt idx="1">
                  <c:v>28.3</c:v>
                </c:pt>
                <c:pt idx="2">
                  <c:v>28.7</c:v>
                </c:pt>
                <c:pt idx="3">
                  <c:v>30.8</c:v>
                </c:pt>
                <c:pt idx="4">
                  <c:v>31.1</c:v>
                </c:pt>
                <c:pt idx="5">
                  <c:v>31.6</c:v>
                </c:pt>
                <c:pt idx="6">
                  <c:v>33</c:v>
                </c:pt>
                <c:pt idx="7">
                  <c:v>33.2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2304B"/>
                  </a:solidFill>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Año</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General"/>
        <c:majorTickMark val="none"/>
        <c:minorTickMark val="none"/>
        <c:spPr>
          <a:ln xmlns:a="http://schemas.openxmlformats.org/drawingml/2006/main" w="9525">
            <a:solidFill>
              <a:srgbClr val="E3E9ED"/>
            </a:solidFill>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72768"/>
      </c:catAx>
      <c:valAx>
        <c:axId val="48672768"/>
        <c:scaling>
          <c:orientation val="minMax"/>
          <c:max val="40"/>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1616C"/>
                    </a:solidFill>
                    <a:latin typeface="DejaVu Sans"/>
                    <a:ea typeface="DejaVu Sans"/>
                    <a:cs typeface="DejaVu Sans"/>
                  </a:rPr>
                  <a:t>US$ miles de millones</a:t>
                </a:r>
              </a:p>
            </c:rich>
          </c:tx>
          <c:overlay val="0"/>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6C"/>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1616C"/>
              </a:solidFill>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AEA8D4-6303-4212-AACB-33BF51050B7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Stagnation</a:t>
            </a:r>
          </a:p>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Siete años de gestión en Econland</a:t>
            </a:r>
          </a:p>
        </p:txBody>
      </p:sp>
      <p:sp>
        <p:nvSpPr>
          <p:cNvPr id="2" name="">
            <a:extLst xmlns:a="http://schemas.openxmlformats.org/drawingml/2006/main">
              <a:ext uri="{FF2B5EF4-FFF2-40B4-BE49-F238E27FC236}">
                <a16:creationId xmlns:a16="http://schemas.microsoft.com/office/drawing/2014/main" id="{8C27BC6C-E816-41BB-A926-454021B65955}"/>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única: Ejercicio 3 7 anos(1).pages, reportes finales, año 7.</a:t>
            </a:r>
          </a:p>
        </p:txBody>
      </p:sp>
      <p:sp>
        <p:nvSpPr>
          <p:cNvPr id="3" name="">
            <a:extLst xmlns:a="http://schemas.openxmlformats.org/drawingml/2006/main">
              <a:ext uri="{FF2B5EF4-FFF2-40B4-BE49-F238E27FC236}">
                <a16:creationId xmlns:a16="http://schemas.microsoft.com/office/drawing/2014/main" id="{08663C69-AF6F-4553-854C-B769AC527392}"/>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58328537-F906-44E0-ADB0-0896281A5701}"/>
              </a:ext>
            </a:extLst>
          </p:cNvPr>
          <p:cNvSpPr>
            <a:spLocks xmlns:a="http://schemas.openxmlformats.org/drawingml/2006/main" noGrp="1"/>
          </p:cNvSpPr>
          <p:nvPr/>
        </p:nvSpPr>
        <p:spPr>
          <a:xfrm xmlns:a="http://schemas.openxmlformats.org/drawingml/2006/main">
            <a:off x="609600" y="266700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51616C"/>
                </a:solidFill>
                <a:latin typeface="DejaVu Sans"/>
                <a:ea typeface="DejaVu Sans"/>
                <a:cs typeface="DejaVu Sans"/>
              </a:defRPr>
            </a:defPPr>
          </a:lstStyle>
          <a:p xmlns:a="http://schemas.openxmlformats.org/drawingml/2006/main">
            <a:pPr>
              <a:defRPr sz="2400" b="0">
                <a:solidFill>
                  <a:srgbClr val="51616C"/>
                </a:solidFill>
                <a:latin typeface="DejaVu Sans"/>
                <a:ea typeface="DejaVu Sans"/>
                <a:cs typeface="DejaVu Sans"/>
              </a:defRPr>
            </a:pPr>
            <a:r>
              <a:rPr sz="2400" b="0">
                <a:solidFill>
                  <a:srgbClr val="51616C"/>
                </a:solidFill>
                <a:latin typeface="DejaVu Sans"/>
                <a:ea typeface="DejaVu Sans"/>
                <a:cs typeface="DejaVu Sans"/>
              </a:rPr>
              <a:t>La economía creció, pero cerró con actividad débil</a:t>
            </a:r>
          </a:p>
          <a:p xmlns:a="http://schemas.openxmlformats.org/drawingml/2006/main">
            <a:pPr>
              <a:defRPr sz="2400" b="0">
                <a:solidFill>
                  <a:srgbClr val="51616C"/>
                </a:solidFill>
                <a:latin typeface="DejaVu Sans"/>
                <a:ea typeface="DejaVu Sans"/>
                <a:cs typeface="DejaVu Sans"/>
              </a:defRPr>
            </a:pPr>
            <a:r>
              <a:rPr sz="2400" b="0">
                <a:solidFill>
                  <a:srgbClr val="51616C"/>
                </a:solidFill>
                <a:latin typeface="DejaVu Sans"/>
                <a:ea typeface="DejaVu Sans"/>
                <a:cs typeface="DejaVu Sans"/>
              </a:rPr>
              <a:t>y déficit fiscal persistente.</a:t>
            </a:r>
          </a:p>
        </p:txBody>
      </p:sp>
      <p:sp>
        <p:nvSpPr>
          <p:cNvPr id="5" name="">
            <a:extLst xmlns:a="http://schemas.openxmlformats.org/drawingml/2006/main">
              <a:ext uri="{FF2B5EF4-FFF2-40B4-BE49-F238E27FC236}">
                <a16:creationId xmlns:a16="http://schemas.microsoft.com/office/drawing/2014/main" id="{EC0CB130-25FA-4001-A5C8-75F5C4565EAC}"/>
              </a:ext>
            </a:extLst>
          </p:cNvPr>
          <p:cNvSpPr>
            <a:spLocks xmlns:a="http://schemas.openxmlformats.org/drawingml/2006/main" noGrp="1"/>
          </p:cNvSpPr>
          <p:nvPr/>
        </p:nvSpPr>
        <p:spPr>
          <a:xfrm xmlns:a="http://schemas.openxmlformats.org/drawingml/2006/main">
            <a:off x="609600" y="42767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007E87"/>
                </a:solidFill>
                <a:latin typeface="DejaVu Sans"/>
                <a:ea typeface="DejaVu Sans"/>
                <a:cs typeface="DejaVu Sans"/>
              </a:defRPr>
            </a:defPPr>
          </a:lstStyle>
          <a:p xmlns:a="http://schemas.openxmlformats.org/drawingml/2006/main">
            <a:pPr>
              <a:defRPr sz="4950" b="1">
                <a:solidFill>
                  <a:srgbClr val="007E87"/>
                </a:solidFill>
                <a:latin typeface="DejaVu Sans"/>
                <a:ea typeface="DejaVu Sans"/>
                <a:cs typeface="DejaVu Sans"/>
              </a:defRPr>
            </a:pPr>
            <a:r>
              <a:rPr sz="4950" b="1">
                <a:solidFill>
                  <a:srgbClr val="007E87"/>
                </a:solidFill>
                <a:latin typeface="DejaVu Sans"/>
                <a:ea typeface="DejaVu Sans"/>
                <a:cs typeface="DejaVu Sans"/>
              </a:rPr>
              <a:t>+15,7%</a:t>
            </a:r>
          </a:p>
        </p:txBody>
      </p:sp>
      <p:sp>
        <p:nvSpPr>
          <p:cNvPr id="6" name="">
            <a:extLst xmlns:a="http://schemas.openxmlformats.org/drawingml/2006/main">
              <a:ext uri="{FF2B5EF4-FFF2-40B4-BE49-F238E27FC236}">
                <a16:creationId xmlns:a16="http://schemas.microsoft.com/office/drawing/2014/main" id="{52FDBE5B-3C5B-4A0D-BA0A-4349C6FB9AEA}"/>
              </a:ext>
            </a:extLst>
          </p:cNvPr>
          <p:cNvSpPr>
            <a:spLocks xmlns:a="http://schemas.openxmlformats.org/drawingml/2006/main" noGrp="1"/>
          </p:cNvSpPr>
          <p:nvPr/>
        </p:nvSpPr>
        <p:spPr>
          <a:xfrm xmlns:a="http://schemas.openxmlformats.org/drawingml/2006/main">
            <a:off x="609600" y="517207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PIB real acumulado</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Año 0 a año 7</a:t>
            </a:r>
          </a:p>
        </p:txBody>
      </p:sp>
      <p:sp>
        <p:nvSpPr>
          <p:cNvPr id="7" name="">
            <a:extLst xmlns:a="http://schemas.openxmlformats.org/drawingml/2006/main">
              <a:ext uri="{FF2B5EF4-FFF2-40B4-BE49-F238E27FC236}">
                <a16:creationId xmlns:a16="http://schemas.microsoft.com/office/drawing/2014/main" id="{A8B2FD49-413E-4DBE-926D-1733AC180584}"/>
              </a:ext>
            </a:extLst>
          </p:cNvPr>
          <p:cNvSpPr>
            <a:spLocks xmlns:a="http://schemas.openxmlformats.org/drawingml/2006/main" noGrp="1"/>
          </p:cNvSpPr>
          <p:nvPr/>
        </p:nvSpPr>
        <p:spPr>
          <a:xfrm xmlns:a="http://schemas.openxmlformats.org/drawingml/2006/main">
            <a:off x="4572000" y="42767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12304B"/>
                </a:solidFill>
                <a:latin typeface="DejaVu Sans"/>
                <a:ea typeface="DejaVu Sans"/>
                <a:cs typeface="DejaVu Sans"/>
              </a:defRPr>
            </a:defPPr>
          </a:lstStyle>
          <a:p xmlns:a="http://schemas.openxmlformats.org/drawingml/2006/main">
            <a:pPr>
              <a:defRPr sz="4950" b="1">
                <a:solidFill>
                  <a:srgbClr val="12304B"/>
                </a:solidFill>
                <a:latin typeface="DejaVu Sans"/>
                <a:ea typeface="DejaVu Sans"/>
                <a:cs typeface="DejaVu Sans"/>
              </a:defRPr>
            </a:pPr>
            <a:r>
              <a:rPr sz="4950" b="1">
                <a:solidFill>
                  <a:srgbClr val="12304B"/>
                </a:solidFill>
                <a:latin typeface="DejaVu Sans"/>
                <a:ea typeface="DejaVu Sans"/>
                <a:cs typeface="DejaVu Sans"/>
              </a:rPr>
              <a:t>0,7%</a:t>
            </a:r>
          </a:p>
        </p:txBody>
      </p:sp>
      <p:sp>
        <p:nvSpPr>
          <p:cNvPr id="8" name="">
            <a:extLst xmlns:a="http://schemas.openxmlformats.org/drawingml/2006/main">
              <a:ext uri="{FF2B5EF4-FFF2-40B4-BE49-F238E27FC236}">
                <a16:creationId xmlns:a16="http://schemas.microsoft.com/office/drawing/2014/main" id="{D98DD6E4-6DC0-4AB8-8612-0FDB61C9AA50}"/>
              </a:ext>
            </a:extLst>
          </p:cNvPr>
          <p:cNvSpPr>
            <a:spLocks xmlns:a="http://schemas.openxmlformats.org/drawingml/2006/main" noGrp="1"/>
          </p:cNvSpPr>
          <p:nvPr/>
        </p:nvSpPr>
        <p:spPr>
          <a:xfrm xmlns:a="http://schemas.openxmlformats.org/drawingml/2006/main">
            <a:off x="4572000" y="517207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Crecimiento real</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Año 7</a:t>
            </a:r>
          </a:p>
        </p:txBody>
      </p:sp>
      <p:sp>
        <p:nvSpPr>
          <p:cNvPr id="9" name="">
            <a:extLst xmlns:a="http://schemas.openxmlformats.org/drawingml/2006/main">
              <a:ext uri="{FF2B5EF4-FFF2-40B4-BE49-F238E27FC236}">
                <a16:creationId xmlns:a16="http://schemas.microsoft.com/office/drawing/2014/main" id="{03CD1D55-EDBD-4FFB-8882-AF846B585F12}"/>
              </a:ext>
            </a:extLst>
          </p:cNvPr>
          <p:cNvSpPr>
            <a:spLocks xmlns:a="http://schemas.openxmlformats.org/drawingml/2006/main" noGrp="1"/>
          </p:cNvSpPr>
          <p:nvPr/>
        </p:nvSpPr>
        <p:spPr>
          <a:xfrm xmlns:a="http://schemas.openxmlformats.org/drawingml/2006/main">
            <a:off x="8286750" y="42767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12304B"/>
                </a:solidFill>
                <a:latin typeface="DejaVu Sans"/>
                <a:ea typeface="DejaVu Sans"/>
                <a:cs typeface="DejaVu Sans"/>
              </a:defRPr>
            </a:defPPr>
          </a:lstStyle>
          <a:p xmlns:a="http://schemas.openxmlformats.org/drawingml/2006/main">
            <a:pPr>
              <a:defRPr sz="4950" b="1">
                <a:solidFill>
                  <a:srgbClr val="12304B"/>
                </a:solidFill>
                <a:latin typeface="DejaVu Sans"/>
                <a:ea typeface="DejaVu Sans"/>
                <a:cs typeface="DejaVu Sans"/>
              </a:defRPr>
            </a:pPr>
            <a:r>
              <a:rPr sz="4950" b="1">
                <a:solidFill>
                  <a:srgbClr val="12304B"/>
                </a:solidFill>
                <a:latin typeface="DejaVu Sans"/>
                <a:ea typeface="DejaVu Sans"/>
                <a:cs typeface="DejaVu Sans"/>
              </a:rPr>
              <a:t>69</a:t>
            </a:r>
          </a:p>
        </p:txBody>
      </p:sp>
      <p:sp>
        <p:nvSpPr>
          <p:cNvPr id="10" name="">
            <a:extLst xmlns:a="http://schemas.openxmlformats.org/drawingml/2006/main">
              <a:ext uri="{FF2B5EF4-FFF2-40B4-BE49-F238E27FC236}">
                <a16:creationId xmlns:a16="http://schemas.microsoft.com/office/drawing/2014/main" id="{7A86061C-6CA0-45FA-B047-A38A2E85C650}"/>
              </a:ext>
            </a:extLst>
          </p:cNvPr>
          <p:cNvSpPr>
            <a:spLocks xmlns:a="http://schemas.openxmlformats.org/drawingml/2006/main" noGrp="1"/>
          </p:cNvSpPr>
          <p:nvPr/>
        </p:nvSpPr>
        <p:spPr>
          <a:xfrm xmlns:a="http://schemas.openxmlformats.org/drawingml/2006/main">
            <a:off x="8286750" y="5172075"/>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Aprobación promedio</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Puntos del simulador</a:t>
            </a:r>
          </a:p>
        </p:txBody>
      </p:sp>
      <p:sp>
        <p:nvSpPr>
          <p:cNvPr id="11" name="">
            <a:extLst xmlns:a="http://schemas.openxmlformats.org/drawingml/2006/main">
              <a:ext uri="{FF2B5EF4-FFF2-40B4-BE49-F238E27FC236}">
                <a16:creationId xmlns:a16="http://schemas.microsoft.com/office/drawing/2014/main" id="{05DDD2E8-7EEE-40BC-BA5A-D9881AF66772}"/>
              </a:ext>
            </a:extLst>
          </p:cNvPr>
          <p:cNvSpPr>
            <a:spLocks xmlns:a="http://schemas.openxmlformats.org/drawingml/2006/main" noGrp="1"/>
          </p:cNvSpPr>
          <p:nvPr/>
        </p:nvSpPr>
        <p:spPr>
          <a:xfrm xmlns:a="http://schemas.openxmlformats.org/drawingml/2006/main">
            <a:off x="609600" y="1847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1616C"/>
                </a:solidFill>
                <a:latin typeface="DejaVu Sans"/>
                <a:ea typeface="DejaVu Sans"/>
                <a:cs typeface="DejaVu Sans"/>
              </a:defRPr>
            </a:defPPr>
          </a:lstStyle>
          <a:p xmlns:a="http://schemas.openxmlformats.org/drawingml/2006/main">
            <a:pPr>
              <a:defRPr sz="1650" b="0">
                <a:solidFill>
                  <a:srgbClr val="51616C"/>
                </a:solidFill>
                <a:latin typeface="DejaVu Sans"/>
                <a:ea typeface="DejaVu Sans"/>
                <a:cs typeface="DejaVu Sans"/>
              </a:defRPr>
            </a:pPr>
            <a:r>
              <a:rPr sz="1650" b="0">
                <a:solidFill>
                  <a:srgbClr val="51616C"/>
                </a:solidFill>
                <a:latin typeface="DejaVu Sans"/>
                <a:ea typeface="DejaVu Sans"/>
                <a:cs typeface="DejaVu Sans"/>
              </a:rPr>
              <a:t>Autor: no indicado en el archivo    Fecha: 10 de octubre de 2026</a:t>
            </a:r>
          </a:p>
        </p:txBody>
      </p:sp>
    </p:spTree>
    <p:extLst>
      <p:ext uri="{BB962C8B-B14F-4D97-AF65-F5344CB8AC3E}">
        <p14:creationId xmlns:p14="http://schemas.microsoft.com/office/powerpoint/2010/main" val="13847356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A45CB5-58C1-4A17-A8FA-63820B110C2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El contexto mundial perdió impulso</a:t>
            </a:r>
          </a:p>
        </p:txBody>
      </p:sp>
      <p:sp>
        <p:nvSpPr>
          <p:cNvPr id="2" name="">
            <a:extLst xmlns:a="http://schemas.openxmlformats.org/drawingml/2006/main">
              <a:ext uri="{FF2B5EF4-FFF2-40B4-BE49-F238E27FC236}">
                <a16:creationId xmlns:a16="http://schemas.microsoft.com/office/drawing/2014/main" id="{0C1C0B87-CECC-4616-BA0C-E9DABBBD64F5}"/>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tablas 1–3 del archivo adjunto. Previsión mundial en %.</a:t>
            </a:r>
          </a:p>
        </p:txBody>
      </p:sp>
      <p:sp>
        <p:nvSpPr>
          <p:cNvPr id="3" name="">
            <a:extLst xmlns:a="http://schemas.openxmlformats.org/drawingml/2006/main">
              <a:ext uri="{FF2B5EF4-FFF2-40B4-BE49-F238E27FC236}">
                <a16:creationId xmlns:a16="http://schemas.microsoft.com/office/drawing/2014/main" id="{DE25759B-4561-4D09-9E24-4F22F538B2EA}"/>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02</a:t>
            </a:r>
          </a:p>
        </p:txBody>
      </p:sp>
      <p:graphicFrame>
        <p:nvGraphicFramePr>
          <p:cNvPr id="4" name="">
            <a:extLst xmlns:a="http://schemas.openxmlformats.org/drawingml/2006/main">
              <a:ext uri="{FF2B5EF4-FFF2-40B4-BE49-F238E27FC236}">
                <a16:creationId xmlns:a16="http://schemas.microsoft.com/office/drawing/2014/main" id="{E95DFE6D-6500-4A09-86C2-102E4BAD4289}"/>
              </a:ext>
            </a:extLst>
          </p:cNvPr>
          <p:cNvGraphicFramePr/>
          <p:nvPr/>
        </p:nvGraphicFramePr>
        <p:xfrm>
          <a:off xmlns:a="http://schemas.openxmlformats.org/drawingml/2006/main" x="609600" y="1609725"/>
          <a:ext xmlns:a="http://schemas.openxmlformats.org/drawingml/2006/main" cx="3905250" cy="3143250"/>
        </p:xfrm>
        <a:graphic xmlns:a="http://schemas.openxmlformats.org/drawingml/2006/main">
          <a:graphicData uri="http://schemas.openxmlformats.org/drawingml/2006/table">
            <a:tbl>
              <a:tblPr/>
              <a:tblGrid>
                <a:gridCol w="2524125"/>
                <a:gridCol w="1381125"/>
              </a:tblGrid>
              <a:tr h="523875">
                <a:tc>
                  <a:txBody>
                    <a:bodyPr lIns="95250" tIns="95250" rIns="95250" bIns="95250"/>
                    <a:lstStyle/>
                    <a:p>
                      <a:pPr algn="l"/>
                      <a:r>
                        <a:rPr sz="1800" b="1">
                          <a:solidFill>
                            <a:srgbClr val="FFFFFF"/>
                          </a:solidFill>
                          <a:latin typeface="DejaVu Sans"/>
                          <a:ea typeface="DejaVu Sans"/>
                          <a:cs typeface="DejaVu Sans"/>
                        </a:rPr>
                        <a:t>Año 0</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Valor</a:t>
                      </a:r>
                    </a:p>
                  </a:txBody>
                  <a:tcPr marL="91440" marR="91440" marT="45720" marB="45720" anchor="ctr">
                    <a:solidFill>
                      <a:srgbClr val="12304B"/>
                    </a:solidFill>
                  </a:tcPr>
                </a:tc>
              </a:tr>
              <a:tr h="523875">
                <a:tc>
                  <a:txBody>
                    <a:bodyPr lIns="95250" tIns="95250" rIns="95250" bIns="95250"/>
                    <a:lstStyle/>
                    <a:p>
                      <a:pPr algn="l"/>
                      <a:r>
                        <a:rPr sz="1800" b="0">
                          <a:solidFill>
                            <a:srgbClr val="12304B"/>
                          </a:solidFill>
                          <a:latin typeface="DejaVu Sans"/>
                          <a:ea typeface="DejaVu Sans"/>
                          <a:cs typeface="DejaVu Sans"/>
                        </a:rPr>
                        <a:t>Crecimiento real</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2,5%</a:t>
                      </a:r>
                    </a:p>
                  </a:txBody>
                  <a:tcPr marL="91440" marR="91440" marT="45720" marB="45720" anchor="ctr">
                    <a:solidFill>
                      <a:srgbClr val="F0F5F6"/>
                    </a:solidFill>
                  </a:tcPr>
                </a:tc>
              </a:tr>
              <a:tr h="523875">
                <a:tc>
                  <a:txBody>
                    <a:bodyPr lIns="95250" tIns="95250" rIns="95250" bIns="95250"/>
                    <a:lstStyle/>
                    <a:p>
                      <a:pPr algn="l"/>
                      <a:r>
                        <a:rPr sz="1800" b="0">
                          <a:solidFill>
                            <a:srgbClr val="12304B"/>
                          </a:solidFill>
                          <a:latin typeface="DejaVu Sans"/>
                          <a:ea typeface="DejaVu Sans"/>
                          <a:cs typeface="DejaVu Sans"/>
                        </a:rPr>
                        <a:t>Inflación</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FFFFF"/>
                    </a:solidFill>
                  </a:tcPr>
                </a:tc>
              </a:tr>
              <a:tr h="523875">
                <a:tc>
                  <a:txBody>
                    <a:bodyPr lIns="95250" tIns="95250" rIns="95250" bIns="95250"/>
                    <a:lstStyle/>
                    <a:p>
                      <a:pPr algn="l"/>
                      <a:r>
                        <a:rPr sz="1800" b="0">
                          <a:solidFill>
                            <a:srgbClr val="12304B"/>
                          </a:solidFill>
                          <a:latin typeface="DejaVu Sans"/>
                          <a:ea typeface="DejaVu Sans"/>
                          <a:cs typeface="DejaVu Sans"/>
                        </a:rPr>
                        <a:t>Desempleo</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5,0%</a:t>
                      </a:r>
                    </a:p>
                  </a:txBody>
                  <a:tcPr marL="91440" marR="91440" marT="45720" marB="45720" anchor="ctr">
                    <a:solidFill>
                      <a:srgbClr val="F0F5F6"/>
                    </a:solidFill>
                  </a:tcPr>
                </a:tc>
              </a:tr>
              <a:tr h="523875">
                <a:tc>
                  <a:txBody>
                    <a:bodyPr lIns="95250" tIns="95250" rIns="95250" bIns="95250"/>
                    <a:lstStyle/>
                    <a:p>
                      <a:pPr algn="l"/>
                      <a:r>
                        <a:rPr sz="1800" b="0">
                          <a:solidFill>
                            <a:srgbClr val="12304B"/>
                          </a:solidFill>
                          <a:latin typeface="DejaVu Sans"/>
                          <a:ea typeface="DejaVu Sans"/>
                          <a:cs typeface="DejaVu Sans"/>
                        </a:rPr>
                        <a:t>Saldo fiscal / PIB</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−3,0%</a:t>
                      </a:r>
                    </a:p>
                  </a:txBody>
                  <a:tcPr marL="91440" marR="91440" marT="45720" marB="45720" anchor="ctr">
                    <a:solidFill>
                      <a:srgbClr val="FFFFFF"/>
                    </a:solidFill>
                  </a:tcPr>
                </a:tc>
              </a:tr>
              <a:tr h="523875">
                <a:tc>
                  <a:txBody>
                    <a:bodyPr lIns="95250" tIns="95250" rIns="95250" bIns="95250"/>
                    <a:lstStyle/>
                    <a:p>
                      <a:pPr algn="l"/>
                      <a:r>
                        <a:rPr sz="1800" b="0">
                          <a:solidFill>
                            <a:srgbClr val="12304B"/>
                          </a:solidFill>
                          <a:latin typeface="DejaVu Sans"/>
                          <a:ea typeface="DejaVu Sans"/>
                          <a:cs typeface="DejaVu Sans"/>
                        </a:rPr>
                        <a:t>Deuda / PIB</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60,0%</a:t>
                      </a:r>
                    </a:p>
                  </a:txBody>
                  <a:tcPr marL="91440" marR="91440" marT="45720" marB="45720" anchor="ctr">
                    <a:solidFill>
                      <a:srgbClr val="F0F5F6"/>
                    </a:solidFill>
                  </a:tcPr>
                </a:tc>
              </a:tr>
            </a:tbl>
          </a:graphicData>
        </a:graphic>
      </p:graphicFrame>
      <p:sp>
        <p:nvSpPr>
          <p:cNvPr id="5" name="">
            <a:extLst xmlns:a="http://schemas.openxmlformats.org/drawingml/2006/main">
              <a:ext uri="{FF2B5EF4-FFF2-40B4-BE49-F238E27FC236}">
                <a16:creationId xmlns:a16="http://schemas.microsoft.com/office/drawing/2014/main" id="{D380E205-BB43-4EFA-A267-7ED81730F1C8}"/>
              </a:ext>
            </a:extLst>
          </p:cNvPr>
          <p:cNvSpPr>
            <a:spLocks xmlns:a="http://schemas.openxmlformats.org/drawingml/2006/main" noGrp="1"/>
          </p:cNvSpPr>
          <p:nvPr/>
        </p:nvSpPr>
        <p:spPr>
          <a:xfrm xmlns:a="http://schemas.openxmlformats.org/drawingml/2006/main">
            <a:off x="5000625" y="1647825"/>
            <a:ext cx="642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2304B"/>
                </a:solidFill>
                <a:latin typeface="DejaVu Sans"/>
                <a:ea typeface="DejaVu Sans"/>
                <a:cs typeface="DejaVu Sans"/>
              </a:defRPr>
            </a:defPPr>
          </a:lstStyle>
          <a:p xmlns:a="http://schemas.openxmlformats.org/drawingml/2006/main">
            <a:pPr>
              <a:defRPr sz="1950" b="1">
                <a:solidFill>
                  <a:srgbClr val="12304B"/>
                </a:solidFill>
                <a:latin typeface="DejaVu Sans"/>
                <a:ea typeface="DejaVu Sans"/>
                <a:cs typeface="DejaVu Sans"/>
              </a:defRPr>
            </a:pPr>
            <a:r>
              <a:rPr sz="1950" b="1">
                <a:solidFill>
                  <a:srgbClr val="12304B"/>
                </a:solidFill>
                <a:latin typeface="DejaVu Sans"/>
                <a:ea typeface="DejaVu Sans"/>
                <a:cs typeface="DejaVu Sans"/>
              </a:rPr>
              <a:t>Previsión de crecimiento mundial</a:t>
            </a:r>
          </a:p>
        </p:txBody>
      </p:sp>
      <p:graphicFrame>
        <p:nvGraphicFramePr>
          <p:cNvPr id="6" name="Chart">
            <a:extLst xmlns:a="http://schemas.openxmlformats.org/drawingml/2006/main">
              <a:ext uri="{FF2B5EF4-FFF2-40B4-BE49-F238E27FC236}">
                <a16:creationId xmlns:a16="http://schemas.microsoft.com/office/drawing/2014/main" id="{F4640E25-B7F8-465F-AC8C-12D709474866}"/>
              </a:ext>
            </a:extLst>
          </p:cNvPr>
          <p:cNvGraphicFramePr/>
          <p:nvPr/>
        </p:nvGraphicFramePr>
        <p:xfrm>
          <a:off xmlns:a="http://schemas.openxmlformats.org/drawingml/2006/main" x="4857750" y="2105025"/>
          <a:ext xmlns:a="http://schemas.openxmlformats.org/drawingml/2006/main" cx="6667500" cy="3000375"/>
        </p:xfrm>
        <a:graphic xmlns:a="http://schemas.openxmlformats.org/drawingml/2006/main">
          <a:graphicData uri="http://schemas.openxmlformats.org/drawingml/2006/chart">
            <c:chart xmlns:r="http://schemas.openxmlformats.org/officeDocument/2006/relationships" xmlns:c="http://schemas.openxmlformats.org/drawingml/2006/chart" r:id="R24fa6b8151f54177"/>
          </a:graphicData>
        </a:graphic>
      </p:graphicFrame>
      <p:sp>
        <p:nvSpPr>
          <p:cNvPr id="7" name="">
            <a:extLst xmlns:a="http://schemas.openxmlformats.org/drawingml/2006/main">
              <a:ext uri="{FF2B5EF4-FFF2-40B4-BE49-F238E27FC236}">
                <a16:creationId xmlns:a16="http://schemas.microsoft.com/office/drawing/2014/main" id="{5FDF62F4-461F-4782-857D-35E8D5F91EAF}"/>
              </a:ext>
            </a:extLst>
          </p:cNvPr>
          <p:cNvSpPr>
            <a:spLocks xmlns:a="http://schemas.openxmlformats.org/drawingml/2006/main" noGrp="1"/>
          </p:cNvSpPr>
          <p:nvPr/>
        </p:nvSpPr>
        <p:spPr>
          <a:xfrm xmlns:a="http://schemas.openxmlformats.org/drawingml/2006/main">
            <a:off x="609600" y="53625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1616C"/>
                </a:solidFill>
                <a:latin typeface="DejaVu Sans"/>
                <a:ea typeface="DejaVu Sans"/>
                <a:cs typeface="DejaVu Sans"/>
              </a:defRPr>
            </a:defPPr>
          </a:lstStyle>
          <a:p xmlns:a="http://schemas.openxmlformats.org/drawingml/2006/main">
            <a:pPr>
              <a:defRPr sz="2100" b="0">
                <a:solidFill>
                  <a:srgbClr val="51616C"/>
                </a:solidFill>
                <a:latin typeface="DejaVu Sans"/>
                <a:ea typeface="DejaVu Sans"/>
                <a:cs typeface="DejaVu Sans"/>
              </a:defRPr>
            </a:pPr>
            <a:r>
              <a:rPr sz="2100" b="0">
                <a:solidFill>
                  <a:srgbClr val="51616C"/>
                </a:solidFill>
                <a:latin typeface="DejaVu Sans"/>
                <a:ea typeface="DejaVu Sans"/>
                <a:cs typeface="DejaVu Sans"/>
              </a:rPr>
              <a:t>Desafío: sostener la actividad con menor impulso externo</a:t>
            </a:r>
          </a:p>
          <a:p xmlns:a="http://schemas.openxmlformats.org/drawingml/2006/main">
            <a:pPr>
              <a:defRPr sz="2100" b="0">
                <a:solidFill>
                  <a:srgbClr val="51616C"/>
                </a:solidFill>
                <a:latin typeface="DejaVu Sans"/>
                <a:ea typeface="DejaVu Sans"/>
                <a:cs typeface="DejaVu Sans"/>
              </a:defRPr>
            </a:pPr>
            <a:r>
              <a:rPr sz="2100" b="0">
                <a:solidFill>
                  <a:srgbClr val="51616C"/>
                </a:solidFill>
                <a:latin typeface="DejaVu Sans"/>
                <a:ea typeface="DejaVu Sans"/>
                <a:cs typeface="DejaVu Sans"/>
              </a:rPr>
              <a:t>y restricciones fiscales iniciales.</a:t>
            </a:r>
          </a:p>
        </p:txBody>
      </p:sp>
    </p:spTree>
    <p:extLst>
      <p:ext uri="{BB962C8B-B14F-4D97-AF65-F5344CB8AC3E}">
        <p14:creationId xmlns:p14="http://schemas.microsoft.com/office/powerpoint/2010/main" val="1671547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558E42-0F83-4F05-AF23-B6D629057C14}"/>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La política combinó estímulo y ajuste fiscal</a:t>
            </a:r>
          </a:p>
        </p:txBody>
      </p:sp>
      <p:sp>
        <p:nvSpPr>
          <p:cNvPr id="2" name="">
            <a:extLst xmlns:a="http://schemas.openxmlformats.org/drawingml/2006/main">
              <a:ext uri="{FF2B5EF4-FFF2-40B4-BE49-F238E27FC236}">
                <a16:creationId xmlns:a16="http://schemas.microsoft.com/office/drawing/2014/main" id="{F6B547BA-09DE-46A4-BBA7-5BBDAD7D89BF}"/>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 3. Tasas en %. Gasto nominal en US$ miles de millones.</a:t>
            </a:r>
          </a:p>
        </p:txBody>
      </p:sp>
      <p:sp>
        <p:nvSpPr>
          <p:cNvPr id="3" name="">
            <a:extLst xmlns:a="http://schemas.openxmlformats.org/drawingml/2006/main">
              <a:ext uri="{FF2B5EF4-FFF2-40B4-BE49-F238E27FC236}">
                <a16:creationId xmlns:a16="http://schemas.microsoft.com/office/drawing/2014/main" id="{8703410A-60FD-4282-8A64-2E5032500A48}"/>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03</a:t>
            </a:r>
          </a:p>
        </p:txBody>
      </p:sp>
      <p:graphicFrame>
        <p:nvGraphicFramePr>
          <p:cNvPr id="4" name="">
            <a:extLst xmlns:a="http://schemas.openxmlformats.org/drawingml/2006/main">
              <a:ext uri="{FF2B5EF4-FFF2-40B4-BE49-F238E27FC236}">
                <a16:creationId xmlns:a16="http://schemas.microsoft.com/office/drawing/2014/main" id="{A096E4DB-942C-4249-B703-88308986392A}"/>
              </a:ext>
            </a:extLst>
          </p:cNvPr>
          <p:cNvGraphicFramePr/>
          <p:nvPr/>
        </p:nvGraphicFramePr>
        <p:xfrm>
          <a:off xmlns:a="http://schemas.openxmlformats.org/drawingml/2006/main" x="609600" y="1590675"/>
          <a:ext xmlns:a="http://schemas.openxmlformats.org/drawingml/2006/main" cx="10972800" cy="3381375"/>
        </p:xfrm>
        <a:graphic xmlns:a="http://schemas.openxmlformats.org/drawingml/2006/main">
          <a:graphicData uri="http://schemas.openxmlformats.org/drawingml/2006/table">
            <a:tbl>
              <a:tblPr/>
              <a:tblGrid>
                <a:gridCol w="1238250"/>
                <a:gridCol w="2000250"/>
                <a:gridCol w="2000250"/>
                <a:gridCol w="2571750"/>
                <a:gridCol w="3162300"/>
              </a:tblGrid>
              <a:tr h="422672">
                <a:tc>
                  <a:txBody>
                    <a:bodyPr lIns="95250" tIns="95250" rIns="95250" bIns="95250"/>
                    <a:lstStyle/>
                    <a:p>
                      <a:pPr algn="l"/>
                      <a:r>
                        <a:rPr sz="1800" b="1">
                          <a:solidFill>
                            <a:srgbClr val="FFFFFF"/>
                          </a:solidFill>
                          <a:latin typeface="DejaVu Sans"/>
                          <a:ea typeface="DejaVu Sans"/>
                          <a:cs typeface="DejaVu Sans"/>
                        </a:rPr>
                        <a:t>Año</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Interés</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Renta</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Corporativo</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Gasto</a:t>
                      </a:r>
                    </a:p>
                  </a:txBody>
                  <a:tcPr marL="91440" marR="91440" marT="45720" marB="45720" anchor="ctr">
                    <a:solidFill>
                      <a:srgbClr val="12304B"/>
                    </a:solidFill>
                  </a:tcPr>
                </a:tc>
              </a:tr>
              <a:tr h="422672">
                <a:tc>
                  <a:txBody>
                    <a:bodyPr lIns="95250" tIns="95250" rIns="95250" bIns="95250"/>
                    <a:lstStyle/>
                    <a:p>
                      <a:pPr algn="l"/>
                      <a:r>
                        <a:rPr sz="1800" b="0">
                          <a:solidFill>
                            <a:srgbClr val="12304B"/>
                          </a:solidFill>
                          <a:latin typeface="DejaVu Sans"/>
                          <a:ea typeface="DejaVu Sans"/>
                          <a:cs typeface="DejaVu Sans"/>
                        </a:rPr>
                        <a:t>1</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24,0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30,0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34,0</a:t>
                      </a:r>
                    </a:p>
                  </a:txBody>
                  <a:tcPr marL="91440" marR="91440" marT="45720" marB="45720" anchor="ctr">
                    <a:solidFill>
                      <a:srgbClr val="F0F5F6"/>
                    </a:solidFill>
                  </a:tcPr>
                </a:tc>
              </a:tr>
              <a:tr h="422672">
                <a:tc>
                  <a:txBody>
                    <a:bodyPr lIns="95250" tIns="95250" rIns="95250" bIns="95250"/>
                    <a:lstStyle/>
                    <a:p>
                      <a:pPr algn="l"/>
                      <a:r>
                        <a:rPr sz="1800" b="0">
                          <a:solidFill>
                            <a:srgbClr val="12304B"/>
                          </a:solidFill>
                          <a:latin typeface="DejaVu Sans"/>
                          <a:ea typeface="DejaVu Sans"/>
                          <a:cs typeface="DejaVu Sans"/>
                        </a:rPr>
                        <a:t>2</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27,0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30,0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34,0</a:t>
                      </a:r>
                    </a:p>
                  </a:txBody>
                  <a:tcPr marL="91440" marR="91440" marT="45720" marB="45720" anchor="ctr">
                    <a:solidFill>
                      <a:srgbClr val="FFFFFF"/>
                    </a:solidFill>
                  </a:tcPr>
                </a:tc>
              </a:tr>
              <a:tr h="422672">
                <a:tc>
                  <a:txBody>
                    <a:bodyPr lIns="95250" tIns="95250" rIns="95250" bIns="95250"/>
                    <a:lstStyle/>
                    <a:p>
                      <a:pPr algn="l"/>
                      <a:r>
                        <a:rPr sz="1800" b="0">
                          <a:solidFill>
                            <a:srgbClr val="12304B"/>
                          </a:solidFill>
                          <a:latin typeface="DejaVu Sans"/>
                          <a:ea typeface="DejaVu Sans"/>
                          <a:cs typeface="DejaVu Sans"/>
                        </a:rPr>
                        <a:t>3</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26,0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29,0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36,0</a:t>
                      </a:r>
                    </a:p>
                  </a:txBody>
                  <a:tcPr marL="91440" marR="91440" marT="45720" marB="45720" anchor="ctr">
                    <a:solidFill>
                      <a:srgbClr val="F0F5F6"/>
                    </a:solidFill>
                  </a:tcPr>
                </a:tc>
              </a:tr>
              <a:tr h="422672">
                <a:tc>
                  <a:txBody>
                    <a:bodyPr lIns="95250" tIns="95250" rIns="95250" bIns="95250"/>
                    <a:lstStyle/>
                    <a:p>
                      <a:pPr algn="l"/>
                      <a:r>
                        <a:rPr sz="1800" b="0">
                          <a:solidFill>
                            <a:srgbClr val="12304B"/>
                          </a:solidFill>
                          <a:latin typeface="DejaVu Sans"/>
                          <a:ea typeface="DejaVu Sans"/>
                          <a:cs typeface="DejaVu Sans"/>
                        </a:rPr>
                        <a:t>4</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2,5</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26,0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29,0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36,0</a:t>
                      </a:r>
                    </a:p>
                  </a:txBody>
                  <a:tcPr marL="91440" marR="91440" marT="45720" marB="45720" anchor="ctr">
                    <a:solidFill>
                      <a:srgbClr val="FFFFFF"/>
                    </a:solidFill>
                  </a:tcPr>
                </a:tc>
              </a:tr>
              <a:tr h="422672">
                <a:tc>
                  <a:txBody>
                    <a:bodyPr lIns="95250" tIns="95250" rIns="95250" bIns="95250"/>
                    <a:lstStyle/>
                    <a:p>
                      <a:pPr algn="l"/>
                      <a:r>
                        <a:rPr sz="1800" b="0">
                          <a:solidFill>
                            <a:srgbClr val="12304B"/>
                          </a:solidFill>
                          <a:latin typeface="DejaVu Sans"/>
                          <a:ea typeface="DejaVu Sans"/>
                          <a:cs typeface="DejaVu Sans"/>
                        </a:rPr>
                        <a:t>5</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26,0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28,0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37,0</a:t>
                      </a:r>
                    </a:p>
                  </a:txBody>
                  <a:tcPr marL="91440" marR="91440" marT="45720" marB="45720" anchor="ctr">
                    <a:solidFill>
                      <a:srgbClr val="F0F5F6"/>
                    </a:solidFill>
                  </a:tcPr>
                </a:tc>
              </a:tr>
              <a:tr h="422672">
                <a:tc>
                  <a:txBody>
                    <a:bodyPr lIns="95250" tIns="95250" rIns="95250" bIns="95250"/>
                    <a:lstStyle/>
                    <a:p>
                      <a:pPr algn="l"/>
                      <a:r>
                        <a:rPr sz="1800" b="0">
                          <a:solidFill>
                            <a:srgbClr val="12304B"/>
                          </a:solidFill>
                          <a:latin typeface="DejaVu Sans"/>
                          <a:ea typeface="DejaVu Sans"/>
                          <a:cs typeface="DejaVu Sans"/>
                        </a:rPr>
                        <a:t>6</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26,0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28,0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39,0</a:t>
                      </a:r>
                    </a:p>
                  </a:txBody>
                  <a:tcPr marL="91440" marR="91440" marT="45720" marB="45720" anchor="ctr">
                    <a:solidFill>
                      <a:srgbClr val="FFFFFF"/>
                    </a:solidFill>
                  </a:tcPr>
                </a:tc>
              </a:tr>
              <a:tr h="422672">
                <a:tc>
                  <a:txBody>
                    <a:bodyPr lIns="95250" tIns="95250" rIns="95250" bIns="95250"/>
                    <a:lstStyle/>
                    <a:p>
                      <a:pPr algn="l"/>
                      <a:r>
                        <a:rPr sz="1800" b="0">
                          <a:solidFill>
                            <a:srgbClr val="12304B"/>
                          </a:solidFill>
                          <a:latin typeface="DejaVu Sans"/>
                          <a:ea typeface="DejaVu Sans"/>
                          <a:cs typeface="DejaVu Sans"/>
                        </a:rPr>
                        <a:t>7</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26,0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28,0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40,0</a:t>
                      </a:r>
                    </a:p>
                  </a:txBody>
                  <a:tcPr marL="91440" marR="91440" marT="45720" marB="45720" anchor="ctr">
                    <a:solidFill>
                      <a:srgbClr val="F0F5F6"/>
                    </a:solidFill>
                  </a:tcPr>
                </a:tc>
              </a:tr>
            </a:tbl>
          </a:graphicData>
        </a:graphic>
      </p:graphicFrame>
      <p:sp>
        <p:nvSpPr>
          <p:cNvPr id="5" name="">
            <a:extLst xmlns:a="http://schemas.openxmlformats.org/drawingml/2006/main">
              <a:ext uri="{FF2B5EF4-FFF2-40B4-BE49-F238E27FC236}">
                <a16:creationId xmlns:a16="http://schemas.microsoft.com/office/drawing/2014/main" id="{740A6F5E-EBE2-4E0C-99EF-5935BF299919}"/>
              </a:ext>
            </a:extLst>
          </p:cNvPr>
          <p:cNvSpPr>
            <a:spLocks xmlns:a="http://schemas.openxmlformats.org/drawingml/2006/main" noGrp="1"/>
          </p:cNvSpPr>
          <p:nvPr/>
        </p:nvSpPr>
        <p:spPr>
          <a:xfrm xmlns:a="http://schemas.openxmlformats.org/drawingml/2006/main">
            <a:off x="609600" y="53054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E87"/>
                </a:solidFill>
                <a:latin typeface="DejaVu Sans"/>
                <a:ea typeface="DejaVu Sans"/>
                <a:cs typeface="DejaVu Sans"/>
              </a:defRPr>
            </a:defPPr>
          </a:lstStyle>
          <a:p xmlns:a="http://schemas.openxmlformats.org/drawingml/2006/main">
            <a:pPr>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Monetaria</a:t>
            </a:r>
          </a:p>
        </p:txBody>
      </p:sp>
      <p:sp>
        <p:nvSpPr>
          <p:cNvPr id="6" name="">
            <a:extLst xmlns:a="http://schemas.openxmlformats.org/drawingml/2006/main">
              <a:ext uri="{FF2B5EF4-FFF2-40B4-BE49-F238E27FC236}">
                <a16:creationId xmlns:a16="http://schemas.microsoft.com/office/drawing/2014/main" id="{C3C4210D-EA37-46E3-AAF7-2A82AF3E49BC}"/>
              </a:ext>
            </a:extLst>
          </p:cNvPr>
          <p:cNvSpPr>
            <a:spLocks xmlns:a="http://schemas.openxmlformats.org/drawingml/2006/main" noGrp="1"/>
          </p:cNvSpPr>
          <p:nvPr/>
        </p:nvSpPr>
        <p:spPr>
          <a:xfrm xmlns:a="http://schemas.openxmlformats.org/drawingml/2006/main">
            <a:off x="609600" y="57531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2304B"/>
                </a:solidFill>
                <a:latin typeface="DejaVu Sans"/>
                <a:ea typeface="DejaVu Sans"/>
                <a:cs typeface="DejaVu Sans"/>
              </a:defRPr>
            </a:defPPr>
          </a:lstStyle>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Menor interés desde el año 4:</a:t>
            </a:r>
          </a:p>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apoyo potencial al crédito y la inversión.</a:t>
            </a:r>
          </a:p>
        </p:txBody>
      </p:sp>
      <p:sp>
        <p:nvSpPr>
          <p:cNvPr id="7" name="">
            <a:extLst xmlns:a="http://schemas.openxmlformats.org/drawingml/2006/main">
              <a:ext uri="{FF2B5EF4-FFF2-40B4-BE49-F238E27FC236}">
                <a16:creationId xmlns:a16="http://schemas.microsoft.com/office/drawing/2014/main" id="{FD0DDDDC-F41B-4FEA-8B2B-CF13DDEE1575}"/>
              </a:ext>
            </a:extLst>
          </p:cNvPr>
          <p:cNvSpPr>
            <a:spLocks xmlns:a="http://schemas.openxmlformats.org/drawingml/2006/main" noGrp="1"/>
          </p:cNvSpPr>
          <p:nvPr/>
        </p:nvSpPr>
        <p:spPr>
          <a:xfrm xmlns:a="http://schemas.openxmlformats.org/drawingml/2006/main">
            <a:off x="6286500" y="53054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E87"/>
                </a:solidFill>
                <a:latin typeface="DejaVu Sans"/>
                <a:ea typeface="DejaVu Sans"/>
                <a:cs typeface="DejaVu Sans"/>
              </a:defRPr>
            </a:defPPr>
          </a:lstStyle>
          <a:p xmlns:a="http://schemas.openxmlformats.org/drawingml/2006/main">
            <a:pPr>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Fiscal</a:t>
            </a:r>
          </a:p>
        </p:txBody>
      </p:sp>
      <p:sp>
        <p:nvSpPr>
          <p:cNvPr id="8" name="">
            <a:extLst xmlns:a="http://schemas.openxmlformats.org/drawingml/2006/main">
              <a:ext uri="{FF2B5EF4-FFF2-40B4-BE49-F238E27FC236}">
                <a16:creationId xmlns:a16="http://schemas.microsoft.com/office/drawing/2014/main" id="{B5E8E4CF-5A79-4F24-BFF6-AA2CA3968843}"/>
              </a:ext>
            </a:extLst>
          </p:cNvPr>
          <p:cNvSpPr>
            <a:spLocks xmlns:a="http://schemas.openxmlformats.org/drawingml/2006/main" noGrp="1"/>
          </p:cNvSpPr>
          <p:nvPr/>
        </p:nvSpPr>
        <p:spPr>
          <a:xfrm xmlns:a="http://schemas.openxmlformats.org/drawingml/2006/main">
            <a:off x="6286500" y="57531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2304B"/>
                </a:solidFill>
                <a:latin typeface="DejaVu Sans"/>
                <a:ea typeface="DejaVu Sans"/>
                <a:cs typeface="DejaVu Sans"/>
              </a:defRPr>
            </a:defPPr>
          </a:lstStyle>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Más gasto y ajustes tributarios:</a:t>
            </a:r>
          </a:p>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estímulo con déficit persistente.</a:t>
            </a:r>
          </a:p>
        </p:txBody>
      </p:sp>
    </p:spTree>
    <p:extLst>
      <p:ext uri="{BB962C8B-B14F-4D97-AF65-F5344CB8AC3E}">
        <p14:creationId xmlns:p14="http://schemas.microsoft.com/office/powerpoint/2010/main" val="2049080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49799C-4DED-4354-B0D5-530A0F384F3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El consumo aumentó más que la inversión</a:t>
            </a:r>
          </a:p>
        </p:txBody>
      </p:sp>
      <p:sp>
        <p:nvSpPr>
          <p:cNvPr id="2" name="">
            <a:extLst xmlns:a="http://schemas.openxmlformats.org/drawingml/2006/main">
              <a:ext uri="{FF2B5EF4-FFF2-40B4-BE49-F238E27FC236}">
                <a16:creationId xmlns:a16="http://schemas.microsoft.com/office/drawing/2014/main" id="{0CB7E424-83D5-497E-ABA4-010019F49A8F}"/>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tablas 1 y 3. Componentes nominales en US$ miles de millones.</a:t>
            </a:r>
          </a:p>
        </p:txBody>
      </p:sp>
      <p:sp>
        <p:nvSpPr>
          <p:cNvPr id="3" name="">
            <a:extLst xmlns:a="http://schemas.openxmlformats.org/drawingml/2006/main">
              <a:ext uri="{FF2B5EF4-FFF2-40B4-BE49-F238E27FC236}">
                <a16:creationId xmlns:a16="http://schemas.microsoft.com/office/drawing/2014/main" id="{2DBC7760-60A1-406A-B572-8109253661A1}"/>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04</a:t>
            </a:r>
          </a:p>
        </p:txBody>
      </p:sp>
      <p:graphicFrame>
        <p:nvGraphicFramePr>
          <p:cNvPr id="4" name="Chart">
            <a:extLst xmlns:a="http://schemas.openxmlformats.org/drawingml/2006/main">
              <a:ext uri="{FF2B5EF4-FFF2-40B4-BE49-F238E27FC236}">
                <a16:creationId xmlns:a16="http://schemas.microsoft.com/office/drawing/2014/main" id="{C2BD8E7A-063D-4C98-856B-A64AAB80AE5A}"/>
              </a:ext>
            </a:extLst>
          </p:cNvPr>
          <p:cNvGraphicFramePr/>
          <p:nvPr/>
        </p:nvGraphicFramePr>
        <p:xfrm>
          <a:off xmlns:a="http://schemas.openxmlformats.org/drawingml/2006/main" x="609600" y="1762125"/>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e5d998d481e848e3"/>
          </a:graphicData>
        </a:graphic>
      </p:graphicFrame>
      <p:sp>
        <p:nvSpPr>
          <p:cNvPr id="5" name="">
            <a:extLst xmlns:a="http://schemas.openxmlformats.org/drawingml/2006/main">
              <a:ext uri="{FF2B5EF4-FFF2-40B4-BE49-F238E27FC236}">
                <a16:creationId xmlns:a16="http://schemas.microsoft.com/office/drawing/2014/main" id="{4201D07D-27D4-436B-8640-E7BF3947AB9B}"/>
              </a:ext>
            </a:extLst>
          </p:cNvPr>
          <p:cNvSpPr>
            <a:spLocks xmlns:a="http://schemas.openxmlformats.org/drawingml/2006/main" noGrp="1"/>
          </p:cNvSpPr>
          <p:nvPr/>
        </p:nvSpPr>
        <p:spPr>
          <a:xfrm xmlns:a="http://schemas.openxmlformats.org/drawingml/2006/main">
            <a:off x="8286750" y="1866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007E87"/>
                </a:solidFill>
                <a:latin typeface="DejaVu Sans"/>
                <a:ea typeface="DejaVu Sans"/>
                <a:cs typeface="DejaVu Sans"/>
              </a:defRPr>
            </a:defPPr>
          </a:lstStyle>
          <a:p xmlns:a="http://schemas.openxmlformats.org/drawingml/2006/main">
            <a:pPr>
              <a:defRPr sz="2700" b="1">
                <a:solidFill>
                  <a:srgbClr val="007E87"/>
                </a:solidFill>
                <a:latin typeface="DejaVu Sans"/>
                <a:ea typeface="DejaVu Sans"/>
                <a:cs typeface="DejaVu Sans"/>
              </a:defRPr>
            </a:pPr>
            <a:r>
              <a:rPr sz="2700" b="1">
                <a:solidFill>
                  <a:srgbClr val="007E87"/>
                </a:solidFill>
                <a:latin typeface="DejaVu Sans"/>
                <a:ea typeface="DejaVu Sans"/>
                <a:cs typeface="DejaVu Sans"/>
              </a:rPr>
              <a:t>55,0 a 78,3</a:t>
            </a:r>
          </a:p>
        </p:txBody>
      </p:sp>
      <p:sp>
        <p:nvSpPr>
          <p:cNvPr id="6" name="">
            <a:extLst xmlns:a="http://schemas.openxmlformats.org/drawingml/2006/main">
              <a:ext uri="{FF2B5EF4-FFF2-40B4-BE49-F238E27FC236}">
                <a16:creationId xmlns:a16="http://schemas.microsoft.com/office/drawing/2014/main" id="{24EE56C7-0C5C-48F7-A748-A1C5FFA9D8DF}"/>
              </a:ext>
            </a:extLst>
          </p:cNvPr>
          <p:cNvSpPr>
            <a:spLocks xmlns:a="http://schemas.openxmlformats.org/drawingml/2006/main" noGrp="1"/>
          </p:cNvSpPr>
          <p:nvPr/>
        </p:nvSpPr>
        <p:spPr>
          <a:xfrm xmlns:a="http://schemas.openxmlformats.org/drawingml/2006/main">
            <a:off x="8286750" y="24955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2304B"/>
                </a:solidFill>
                <a:latin typeface="DejaVu Sans"/>
                <a:ea typeface="DejaVu Sans"/>
                <a:cs typeface="DejaVu Sans"/>
              </a:defRPr>
            </a:defPPr>
          </a:lstStyle>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Consumo nominal</a:t>
            </a:r>
          </a:p>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+42,4%</a:t>
            </a:r>
          </a:p>
        </p:txBody>
      </p:sp>
      <p:sp>
        <p:nvSpPr>
          <p:cNvPr id="7" name="">
            <a:extLst xmlns:a="http://schemas.openxmlformats.org/drawingml/2006/main">
              <a:ext uri="{FF2B5EF4-FFF2-40B4-BE49-F238E27FC236}">
                <a16:creationId xmlns:a16="http://schemas.microsoft.com/office/drawing/2014/main" id="{0A2C791B-DBCA-47E2-B246-A72BB17DAFB7}"/>
              </a:ext>
            </a:extLst>
          </p:cNvPr>
          <p:cNvSpPr>
            <a:spLocks xmlns:a="http://schemas.openxmlformats.org/drawingml/2006/main" noGrp="1"/>
          </p:cNvSpPr>
          <p:nvPr/>
        </p:nvSpPr>
        <p:spPr>
          <a:xfrm xmlns:a="http://schemas.openxmlformats.org/drawingml/2006/main">
            <a:off x="8286750" y="36385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2304B"/>
                </a:solidFill>
                <a:latin typeface="DejaVu Sans"/>
                <a:ea typeface="DejaVu Sans"/>
                <a:cs typeface="DejaVu Sans"/>
              </a:defRPr>
            </a:defPPr>
          </a:lstStyle>
          <a:p xmlns:a="http://schemas.openxmlformats.org/drawingml/2006/main">
            <a:pPr>
              <a:defRPr sz="2700" b="1">
                <a:solidFill>
                  <a:srgbClr val="12304B"/>
                </a:solidFill>
                <a:latin typeface="DejaVu Sans"/>
                <a:ea typeface="DejaVu Sans"/>
                <a:cs typeface="DejaVu Sans"/>
              </a:defRPr>
            </a:pPr>
            <a:r>
              <a:rPr sz="2700" b="1">
                <a:solidFill>
                  <a:srgbClr val="12304B"/>
                </a:solidFill>
                <a:latin typeface="DejaVu Sans"/>
                <a:ea typeface="DejaVu Sans"/>
                <a:cs typeface="DejaVu Sans"/>
              </a:rPr>
              <a:t>15,0 a 18,7</a:t>
            </a:r>
          </a:p>
        </p:txBody>
      </p:sp>
      <p:sp>
        <p:nvSpPr>
          <p:cNvPr id="8" name="">
            <a:extLst xmlns:a="http://schemas.openxmlformats.org/drawingml/2006/main">
              <a:ext uri="{FF2B5EF4-FFF2-40B4-BE49-F238E27FC236}">
                <a16:creationId xmlns:a16="http://schemas.microsoft.com/office/drawing/2014/main" id="{E2712D75-7D0C-4E1C-9BFF-BD9E2A5627FD}"/>
              </a:ext>
            </a:extLst>
          </p:cNvPr>
          <p:cNvSpPr>
            <a:spLocks xmlns:a="http://schemas.openxmlformats.org/drawingml/2006/main" noGrp="1"/>
          </p:cNvSpPr>
          <p:nvPr/>
        </p:nvSpPr>
        <p:spPr>
          <a:xfrm xmlns:a="http://schemas.openxmlformats.org/drawingml/2006/main">
            <a:off x="8286750" y="42672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2304B"/>
                </a:solidFill>
                <a:latin typeface="DejaVu Sans"/>
                <a:ea typeface="DejaVu Sans"/>
                <a:cs typeface="DejaVu Sans"/>
              </a:defRPr>
            </a:defPPr>
          </a:lstStyle>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Inversión nominal</a:t>
            </a:r>
          </a:p>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+24,7%</a:t>
            </a:r>
          </a:p>
        </p:txBody>
      </p:sp>
      <p:sp>
        <p:nvSpPr>
          <p:cNvPr id="9" name="">
            <a:extLst xmlns:a="http://schemas.openxmlformats.org/drawingml/2006/main">
              <a:ext uri="{FF2B5EF4-FFF2-40B4-BE49-F238E27FC236}">
                <a16:creationId xmlns:a16="http://schemas.microsoft.com/office/drawing/2014/main" id="{4CD3B898-EF30-4D34-B172-576BF454B986}"/>
              </a:ext>
            </a:extLst>
          </p:cNvPr>
          <p:cNvSpPr>
            <a:spLocks xmlns:a="http://schemas.openxmlformats.org/drawingml/2006/main" noGrp="1"/>
          </p:cNvSpPr>
          <p:nvPr/>
        </p:nvSpPr>
        <p:spPr>
          <a:xfrm xmlns:a="http://schemas.openxmlformats.org/drawingml/2006/main">
            <a:off x="609600" y="571500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1616C"/>
                </a:solidFill>
                <a:latin typeface="DejaVu Sans"/>
                <a:ea typeface="DejaVu Sans"/>
                <a:cs typeface="DejaVu Sans"/>
              </a:defRPr>
            </a:defPPr>
          </a:lstStyle>
          <a:p xmlns:a="http://schemas.openxmlformats.org/drawingml/2006/main">
            <a:pPr>
              <a:defRPr sz="1950" b="0">
                <a:solidFill>
                  <a:srgbClr val="51616C"/>
                </a:solidFill>
                <a:latin typeface="DejaVu Sans"/>
                <a:ea typeface="DejaVu Sans"/>
                <a:cs typeface="DejaVu Sans"/>
              </a:defRPr>
            </a:pPr>
            <a:r>
              <a:rPr sz="1950" b="0">
                <a:solidFill>
                  <a:srgbClr val="51616C"/>
                </a:solidFill>
                <a:latin typeface="DejaVu Sans"/>
                <a:ea typeface="DejaVu Sans"/>
                <a:cs typeface="DejaVu Sans"/>
              </a:rPr>
              <a:t>El PIB real creció 15,7% acumulado. La expansión nominal incluye precios.</a:t>
            </a:r>
          </a:p>
        </p:txBody>
      </p:sp>
    </p:spTree>
    <p:extLst>
      <p:ext uri="{BB962C8B-B14F-4D97-AF65-F5344CB8AC3E}">
        <p14:creationId xmlns:p14="http://schemas.microsoft.com/office/powerpoint/2010/main" val="5868263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3C75C6-0F6E-427C-9377-E2A7BF67DE1D}"/>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La recuperación del año 6 no se sostuvo</a:t>
            </a:r>
          </a:p>
        </p:txBody>
      </p:sp>
      <p:sp>
        <p:nvSpPr>
          <p:cNvPr id="2" name="">
            <a:extLst xmlns:a="http://schemas.openxmlformats.org/drawingml/2006/main">
              <a:ext uri="{FF2B5EF4-FFF2-40B4-BE49-F238E27FC236}">
                <a16:creationId xmlns:a16="http://schemas.microsoft.com/office/drawing/2014/main" id="{66A049AC-C093-4532-BD0C-7FF898BD3E4B}"/>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 3. Crecimiento e inflación en %. Gasto nominal en US$ miles de millones.</a:t>
            </a:r>
          </a:p>
        </p:txBody>
      </p:sp>
      <p:sp>
        <p:nvSpPr>
          <p:cNvPr id="3" name="">
            <a:extLst xmlns:a="http://schemas.openxmlformats.org/drawingml/2006/main">
              <a:ext uri="{FF2B5EF4-FFF2-40B4-BE49-F238E27FC236}">
                <a16:creationId xmlns:a16="http://schemas.microsoft.com/office/drawing/2014/main" id="{AEBCBE79-B43E-4B67-8286-8071D9508432}"/>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05</a:t>
            </a:r>
          </a:p>
        </p:txBody>
      </p:sp>
      <p:graphicFrame>
        <p:nvGraphicFramePr>
          <p:cNvPr id="4" name="">
            <a:extLst xmlns:a="http://schemas.openxmlformats.org/drawingml/2006/main">
              <a:ext uri="{FF2B5EF4-FFF2-40B4-BE49-F238E27FC236}">
                <a16:creationId xmlns:a16="http://schemas.microsoft.com/office/drawing/2014/main" id="{2EE01919-D12B-44F5-A4B9-7DE2527A5374}"/>
              </a:ext>
            </a:extLst>
          </p:cNvPr>
          <p:cNvGraphicFramePr/>
          <p:nvPr/>
        </p:nvGraphicFramePr>
        <p:xfrm>
          <a:off xmlns:a="http://schemas.openxmlformats.org/drawingml/2006/main" x="609600" y="1619250"/>
          <a:ext xmlns:a="http://schemas.openxmlformats.org/drawingml/2006/main" cx="10972800" cy="3276600"/>
        </p:xfrm>
        <a:graphic xmlns:a="http://schemas.openxmlformats.org/drawingml/2006/main">
          <a:graphicData uri="http://schemas.openxmlformats.org/drawingml/2006/table">
            <a:tbl>
              <a:tblPr/>
              <a:tblGrid>
                <a:gridCol w="4343400"/>
                <a:gridCol w="2209800"/>
                <a:gridCol w="2209800"/>
                <a:gridCol w="2209800"/>
              </a:tblGrid>
              <a:tr h="468086">
                <a:tc>
                  <a:txBody>
                    <a:bodyPr lIns="95250" tIns="95250" rIns="95250" bIns="95250"/>
                    <a:lstStyle/>
                    <a:p>
                      <a:pPr algn="l"/>
                      <a:r>
                        <a:rPr sz="1800" b="1">
                          <a:solidFill>
                            <a:srgbClr val="FFFFFF"/>
                          </a:solidFill>
                          <a:latin typeface="DejaVu Sans"/>
                          <a:ea typeface="DejaVu Sans"/>
                          <a:cs typeface="DejaVu Sans"/>
                        </a:rPr>
                        <a:t>Contexto y resultado</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Año 5</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Año 6</a:t>
                      </a:r>
                    </a:p>
                  </a:txBody>
                  <a:tcPr marL="91440" marR="91440" marT="45720" marB="45720" anchor="ctr">
                    <a:solidFill>
                      <a:srgbClr val="12304B"/>
                    </a:solidFill>
                  </a:tcPr>
                </a:tc>
                <a:tc>
                  <a:txBody>
                    <a:bodyPr lIns="95250" tIns="95250" rIns="95250" bIns="95250"/>
                    <a:lstStyle/>
                    <a:p>
                      <a:pPr algn="ctr"/>
                      <a:r>
                        <a:rPr sz="1800" b="1">
                          <a:solidFill>
                            <a:srgbClr val="FFFFFF"/>
                          </a:solidFill>
                          <a:latin typeface="DejaVu Sans"/>
                          <a:ea typeface="DejaVu Sans"/>
                          <a:cs typeface="DejaVu Sans"/>
                        </a:rPr>
                        <a:t>Año 7</a:t>
                      </a:r>
                    </a:p>
                  </a:txBody>
                  <a:tcPr marL="91440" marR="91440" marT="45720" marB="45720" anchor="ctr">
                    <a:solidFill>
                      <a:srgbClr val="12304B"/>
                    </a:solidFill>
                  </a:tcPr>
                </a:tc>
              </a:tr>
              <a:tr h="468086">
                <a:tc>
                  <a:txBody>
                    <a:bodyPr lIns="95250" tIns="95250" rIns="95250" bIns="95250"/>
                    <a:lstStyle/>
                    <a:p>
                      <a:pPr algn="l"/>
                      <a:r>
                        <a:rPr sz="1800" b="0">
                          <a:solidFill>
                            <a:srgbClr val="12304B"/>
                          </a:solidFill>
                          <a:latin typeface="DejaVu Sans"/>
                          <a:ea typeface="DejaVu Sans"/>
                          <a:cs typeface="DejaVu Sans"/>
                        </a:rPr>
                        <a:t>Previsión mundial</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1,0%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1,3%</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0F5F6"/>
                    </a:solidFill>
                  </a:tcPr>
                </a:tc>
              </a:tr>
              <a:tr h="468086">
                <a:tc>
                  <a:txBody>
                    <a:bodyPr lIns="95250" tIns="95250" rIns="95250" bIns="95250"/>
                    <a:lstStyle/>
                    <a:p>
                      <a:pPr algn="l"/>
                      <a:r>
                        <a:rPr sz="1800" b="0">
                          <a:solidFill>
                            <a:srgbClr val="12304B"/>
                          </a:solidFill>
                          <a:latin typeface="DejaVu Sans"/>
                          <a:ea typeface="DejaVu Sans"/>
                          <a:cs typeface="DejaVu Sans"/>
                        </a:rPr>
                        <a:t>Interés</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2,0%</a:t>
                      </a:r>
                    </a:p>
                  </a:txBody>
                  <a:tcPr marL="91440" marR="91440" marT="45720" marB="45720" anchor="ctr">
                    <a:solidFill>
                      <a:srgbClr val="FFFFFF"/>
                    </a:solidFill>
                  </a:tcPr>
                </a:tc>
              </a:tr>
              <a:tr h="468086">
                <a:tc>
                  <a:txBody>
                    <a:bodyPr lIns="95250" tIns="95250" rIns="95250" bIns="95250"/>
                    <a:lstStyle/>
                    <a:p>
                      <a:pPr algn="l"/>
                      <a:r>
                        <a:rPr sz="1800" b="0">
                          <a:solidFill>
                            <a:srgbClr val="12304B"/>
                          </a:solidFill>
                          <a:latin typeface="DejaVu Sans"/>
                          <a:ea typeface="DejaVu Sans"/>
                          <a:cs typeface="DejaVu Sans"/>
                        </a:rPr>
                        <a:t>Gasto público</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37,0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39,0</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40,0</a:t>
                      </a:r>
                    </a:p>
                  </a:txBody>
                  <a:tcPr marL="91440" marR="91440" marT="45720" marB="45720" anchor="ctr">
                    <a:solidFill>
                      <a:srgbClr val="F0F5F6"/>
                    </a:solidFill>
                  </a:tcPr>
                </a:tc>
              </a:tr>
              <a:tr h="468086">
                <a:tc>
                  <a:txBody>
                    <a:bodyPr lIns="95250" tIns="95250" rIns="95250" bIns="95250"/>
                    <a:lstStyle/>
                    <a:p>
                      <a:pPr algn="l"/>
                      <a:r>
                        <a:rPr sz="1800" b="0">
                          <a:solidFill>
                            <a:srgbClr val="12304B"/>
                          </a:solidFill>
                          <a:latin typeface="DejaVu Sans"/>
                          <a:ea typeface="DejaVu Sans"/>
                          <a:cs typeface="DejaVu Sans"/>
                        </a:rPr>
                        <a:t>Crecimiento real</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0,5%</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3,7%</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0,7%</a:t>
                      </a:r>
                    </a:p>
                  </a:txBody>
                  <a:tcPr marL="91440" marR="91440" marT="45720" marB="45720" anchor="ctr">
                    <a:solidFill>
                      <a:srgbClr val="FFFFFF"/>
                    </a:solidFill>
                  </a:tcPr>
                </a:tc>
              </a:tr>
              <a:tr h="468086">
                <a:tc>
                  <a:txBody>
                    <a:bodyPr lIns="95250" tIns="95250" rIns="95250" bIns="95250"/>
                    <a:lstStyle/>
                    <a:p>
                      <a:pPr algn="l"/>
                      <a:r>
                        <a:rPr sz="1800" b="0">
                          <a:solidFill>
                            <a:srgbClr val="12304B"/>
                          </a:solidFill>
                          <a:latin typeface="DejaVu Sans"/>
                          <a:ea typeface="DejaVu Sans"/>
                          <a:cs typeface="DejaVu Sans"/>
                        </a:rPr>
                        <a:t>Inflación</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3,2%</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0,6%</a:t>
                      </a:r>
                    </a:p>
                  </a:txBody>
                  <a:tcPr marL="91440" marR="91440" marT="45720" marB="45720" anchor="ctr">
                    <a:solidFill>
                      <a:srgbClr val="F0F5F6"/>
                    </a:solidFill>
                  </a:tcPr>
                </a:tc>
                <a:tc>
                  <a:txBody>
                    <a:bodyPr lIns="95250" tIns="95250" rIns="95250" bIns="95250"/>
                    <a:lstStyle/>
                    <a:p>
                      <a:pPr algn="ctr"/>
                      <a:r>
                        <a:rPr sz="1800" b="0">
                          <a:solidFill>
                            <a:srgbClr val="12304B"/>
                          </a:solidFill>
                          <a:latin typeface="DejaVu Sans"/>
                          <a:ea typeface="DejaVu Sans"/>
                          <a:cs typeface="DejaVu Sans"/>
                        </a:rPr>
                        <a:t>2,5%</a:t>
                      </a:r>
                    </a:p>
                  </a:txBody>
                  <a:tcPr marL="91440" marR="91440" marT="45720" marB="45720" anchor="ctr">
                    <a:solidFill>
                      <a:srgbClr val="F0F5F6"/>
                    </a:solidFill>
                  </a:tcPr>
                </a:tc>
              </a:tr>
              <a:tr h="468086">
                <a:tc>
                  <a:txBody>
                    <a:bodyPr lIns="95250" tIns="95250" rIns="95250" bIns="95250"/>
                    <a:lstStyle/>
                    <a:p>
                      <a:pPr algn="l"/>
                      <a:r>
                        <a:rPr sz="1800" b="0">
                          <a:solidFill>
                            <a:srgbClr val="12304B"/>
                          </a:solidFill>
                          <a:latin typeface="DejaVu Sans"/>
                          <a:ea typeface="DejaVu Sans"/>
                          <a:cs typeface="DejaVu Sans"/>
                        </a:rPr>
                        <a:t>Desempleo</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6,5%</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5,3%</a:t>
                      </a:r>
                    </a:p>
                  </a:txBody>
                  <a:tcPr marL="91440" marR="91440" marT="45720" marB="45720" anchor="ctr">
                    <a:solidFill>
                      <a:srgbClr val="FFFFFF"/>
                    </a:solidFill>
                  </a:tcPr>
                </a:tc>
                <a:tc>
                  <a:txBody>
                    <a:bodyPr lIns="95250" tIns="95250" rIns="95250" bIns="95250"/>
                    <a:lstStyle/>
                    <a:p>
                      <a:pPr algn="ctr"/>
                      <a:r>
                        <a:rPr sz="1800" b="0">
                          <a:solidFill>
                            <a:srgbClr val="12304B"/>
                          </a:solidFill>
                          <a:latin typeface="DejaVu Sans"/>
                          <a:ea typeface="DejaVu Sans"/>
                          <a:cs typeface="DejaVu Sans"/>
                        </a:rPr>
                        <a:t>5,2%</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2800036-96A1-45C1-8A13-6AD0433C0FBB}"/>
              </a:ext>
            </a:extLst>
          </p:cNvPr>
          <p:cNvSpPr>
            <a:spLocks xmlns:a="http://schemas.openxmlformats.org/drawingml/2006/main" noGrp="1"/>
          </p:cNvSpPr>
          <p:nvPr/>
        </p:nvSpPr>
        <p:spPr>
          <a:xfrm xmlns:a="http://schemas.openxmlformats.org/drawingml/2006/main">
            <a:off x="609600" y="52959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07E87"/>
                </a:solidFill>
                <a:latin typeface="DejaVu Sans"/>
                <a:ea typeface="DejaVu Sans"/>
                <a:cs typeface="DejaVu Sans"/>
              </a:defRPr>
            </a:defPPr>
          </a:lstStyle>
          <a:p xmlns:a="http://schemas.openxmlformats.org/drawingml/2006/main">
            <a:pPr>
              <a:defRPr sz="2100" b="1">
                <a:solidFill>
                  <a:srgbClr val="007E87"/>
                </a:solidFill>
                <a:latin typeface="DejaVu Sans"/>
                <a:ea typeface="DejaVu Sans"/>
                <a:cs typeface="DejaVu Sans"/>
              </a:defRPr>
            </a:pPr>
            <a:r>
              <a:rPr sz="2100" b="1">
                <a:solidFill>
                  <a:srgbClr val="007E87"/>
                </a:solidFill>
                <a:latin typeface="DejaVu Sans"/>
                <a:ea typeface="DejaVu Sans"/>
                <a:cs typeface="DejaVu Sans"/>
              </a:rPr>
              <a:t>Año 5</a:t>
            </a:r>
          </a:p>
        </p:txBody>
      </p:sp>
      <p:sp>
        <p:nvSpPr>
          <p:cNvPr id="6" name="">
            <a:extLst xmlns:a="http://schemas.openxmlformats.org/drawingml/2006/main">
              <a:ext uri="{FF2B5EF4-FFF2-40B4-BE49-F238E27FC236}">
                <a16:creationId xmlns:a16="http://schemas.microsoft.com/office/drawing/2014/main" id="{05580237-954A-4D01-9F1B-E8A65C8F27A1}"/>
              </a:ext>
            </a:extLst>
          </p:cNvPr>
          <p:cNvSpPr>
            <a:spLocks xmlns:a="http://schemas.openxmlformats.org/drawingml/2006/main" noGrp="1"/>
          </p:cNvSpPr>
          <p:nvPr/>
        </p:nvSpPr>
        <p:spPr>
          <a:xfrm xmlns:a="http://schemas.openxmlformats.org/drawingml/2006/main">
            <a:off x="609600" y="57435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2304B"/>
                </a:solidFill>
                <a:latin typeface="DejaVu Sans"/>
                <a:ea typeface="DejaVu Sans"/>
                <a:cs typeface="DejaVu Sans"/>
              </a:defRPr>
            </a:defPPr>
          </a:lstStyle>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Estímulo ante</a:t>
            </a:r>
          </a:p>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actividad casi estancada.</a:t>
            </a:r>
          </a:p>
        </p:txBody>
      </p:sp>
      <p:sp>
        <p:nvSpPr>
          <p:cNvPr id="7" name="">
            <a:extLst xmlns:a="http://schemas.openxmlformats.org/drawingml/2006/main">
              <a:ext uri="{FF2B5EF4-FFF2-40B4-BE49-F238E27FC236}">
                <a16:creationId xmlns:a16="http://schemas.microsoft.com/office/drawing/2014/main" id="{E4F40B96-B0A7-4DB7-B8A6-AC750B34F9CA}"/>
              </a:ext>
            </a:extLst>
          </p:cNvPr>
          <p:cNvSpPr>
            <a:spLocks xmlns:a="http://schemas.openxmlformats.org/drawingml/2006/main" noGrp="1"/>
          </p:cNvSpPr>
          <p:nvPr/>
        </p:nvSpPr>
        <p:spPr>
          <a:xfrm xmlns:a="http://schemas.openxmlformats.org/drawingml/2006/main">
            <a:off x="4381500" y="52959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07E87"/>
                </a:solidFill>
                <a:latin typeface="DejaVu Sans"/>
                <a:ea typeface="DejaVu Sans"/>
                <a:cs typeface="DejaVu Sans"/>
              </a:defRPr>
            </a:defPPr>
          </a:lstStyle>
          <a:p xmlns:a="http://schemas.openxmlformats.org/drawingml/2006/main">
            <a:pPr>
              <a:defRPr sz="2100" b="1">
                <a:solidFill>
                  <a:srgbClr val="007E87"/>
                </a:solidFill>
                <a:latin typeface="DejaVu Sans"/>
                <a:ea typeface="DejaVu Sans"/>
                <a:cs typeface="DejaVu Sans"/>
              </a:defRPr>
            </a:pPr>
            <a:r>
              <a:rPr sz="2100" b="1">
                <a:solidFill>
                  <a:srgbClr val="007E87"/>
                </a:solidFill>
                <a:latin typeface="DejaVu Sans"/>
                <a:ea typeface="DejaVu Sans"/>
                <a:cs typeface="DejaVu Sans"/>
              </a:rPr>
              <a:t>Año 6</a:t>
            </a:r>
          </a:p>
        </p:txBody>
      </p:sp>
      <p:sp>
        <p:nvSpPr>
          <p:cNvPr id="8" name="">
            <a:extLst xmlns:a="http://schemas.openxmlformats.org/drawingml/2006/main">
              <a:ext uri="{FF2B5EF4-FFF2-40B4-BE49-F238E27FC236}">
                <a16:creationId xmlns:a16="http://schemas.microsoft.com/office/drawing/2014/main" id="{71AE5632-FD69-4F78-901A-5AF2E9D3E243}"/>
              </a:ext>
            </a:extLst>
          </p:cNvPr>
          <p:cNvSpPr>
            <a:spLocks xmlns:a="http://schemas.openxmlformats.org/drawingml/2006/main" noGrp="1"/>
          </p:cNvSpPr>
          <p:nvPr/>
        </p:nvSpPr>
        <p:spPr>
          <a:xfrm xmlns:a="http://schemas.openxmlformats.org/drawingml/2006/main">
            <a:off x="4381500" y="57435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2304B"/>
                </a:solidFill>
                <a:latin typeface="DejaVu Sans"/>
                <a:ea typeface="DejaVu Sans"/>
                <a:cs typeface="DejaVu Sans"/>
              </a:defRPr>
            </a:defPPr>
          </a:lstStyle>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Mayor gasto coincidió</a:t>
            </a:r>
          </a:p>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con recuperación real.</a:t>
            </a:r>
          </a:p>
        </p:txBody>
      </p:sp>
      <p:sp>
        <p:nvSpPr>
          <p:cNvPr id="9" name="">
            <a:extLst xmlns:a="http://schemas.openxmlformats.org/drawingml/2006/main">
              <a:ext uri="{FF2B5EF4-FFF2-40B4-BE49-F238E27FC236}">
                <a16:creationId xmlns:a16="http://schemas.microsoft.com/office/drawing/2014/main" id="{1EFD99E7-59B6-4806-ACC2-2E089EA20F1F}"/>
              </a:ext>
            </a:extLst>
          </p:cNvPr>
          <p:cNvSpPr>
            <a:spLocks xmlns:a="http://schemas.openxmlformats.org/drawingml/2006/main" noGrp="1"/>
          </p:cNvSpPr>
          <p:nvPr/>
        </p:nvSpPr>
        <p:spPr>
          <a:xfrm xmlns:a="http://schemas.openxmlformats.org/drawingml/2006/main">
            <a:off x="8143875" y="5295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07E87"/>
                </a:solidFill>
                <a:latin typeface="DejaVu Sans"/>
                <a:ea typeface="DejaVu Sans"/>
                <a:cs typeface="DejaVu Sans"/>
              </a:defRPr>
            </a:defPPr>
          </a:lstStyle>
          <a:p xmlns:a="http://schemas.openxmlformats.org/drawingml/2006/main">
            <a:pPr>
              <a:defRPr sz="2100" b="1">
                <a:solidFill>
                  <a:srgbClr val="007E87"/>
                </a:solidFill>
                <a:latin typeface="DejaVu Sans"/>
                <a:ea typeface="DejaVu Sans"/>
                <a:cs typeface="DejaVu Sans"/>
              </a:defRPr>
            </a:pPr>
            <a:r>
              <a:rPr sz="2100" b="1">
                <a:solidFill>
                  <a:srgbClr val="007E87"/>
                </a:solidFill>
                <a:latin typeface="DejaVu Sans"/>
                <a:ea typeface="DejaVu Sans"/>
                <a:cs typeface="DejaVu Sans"/>
              </a:rPr>
              <a:t>Año 7</a:t>
            </a:r>
          </a:p>
        </p:txBody>
      </p:sp>
      <p:sp>
        <p:nvSpPr>
          <p:cNvPr id="10" name="">
            <a:extLst xmlns:a="http://schemas.openxmlformats.org/drawingml/2006/main">
              <a:ext uri="{FF2B5EF4-FFF2-40B4-BE49-F238E27FC236}">
                <a16:creationId xmlns:a16="http://schemas.microsoft.com/office/drawing/2014/main" id="{18D29920-F842-45EC-8231-E39BC540F82B}"/>
              </a:ext>
            </a:extLst>
          </p:cNvPr>
          <p:cNvSpPr>
            <a:spLocks xmlns:a="http://schemas.openxmlformats.org/drawingml/2006/main" noGrp="1"/>
          </p:cNvSpPr>
          <p:nvPr/>
        </p:nvSpPr>
        <p:spPr>
          <a:xfrm xmlns:a="http://schemas.openxmlformats.org/drawingml/2006/main">
            <a:off x="8143875" y="57435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2304B"/>
                </a:solidFill>
                <a:latin typeface="DejaVu Sans"/>
                <a:ea typeface="DejaVu Sans"/>
                <a:cs typeface="DejaVu Sans"/>
              </a:defRPr>
            </a:defPPr>
          </a:lstStyle>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Más gasto, pero</a:t>
            </a:r>
          </a:p>
          <a:p xmlns:a="http://schemas.openxmlformats.org/drawingml/2006/main">
            <a:pPr>
              <a:defRPr sz="1800" b="0">
                <a:solidFill>
                  <a:srgbClr val="12304B"/>
                </a:solidFill>
                <a:latin typeface="DejaVu Sans"/>
                <a:ea typeface="DejaVu Sans"/>
                <a:cs typeface="DejaVu Sans"/>
              </a:defRPr>
            </a:pPr>
            <a:r>
              <a:rPr sz="1800" b="0">
                <a:solidFill>
                  <a:srgbClr val="12304B"/>
                </a:solidFill>
                <a:latin typeface="DejaVu Sans"/>
                <a:ea typeface="DejaVu Sans"/>
                <a:cs typeface="DejaVu Sans"/>
              </a:rPr>
              <a:t>crecimiento débil.</a:t>
            </a:r>
          </a:p>
        </p:txBody>
      </p:sp>
    </p:spTree>
    <p:extLst>
      <p:ext uri="{BB962C8B-B14F-4D97-AF65-F5344CB8AC3E}">
        <p14:creationId xmlns:p14="http://schemas.microsoft.com/office/powerpoint/2010/main" val="18091400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D5DFAF-8BDC-4295-9707-805B914EB49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El empleo cerró peor que al inicio</a:t>
            </a:r>
          </a:p>
        </p:txBody>
      </p:sp>
      <p:sp>
        <p:nvSpPr>
          <p:cNvPr id="2" name="">
            <a:extLst xmlns:a="http://schemas.openxmlformats.org/drawingml/2006/main">
              <a:ext uri="{FF2B5EF4-FFF2-40B4-BE49-F238E27FC236}">
                <a16:creationId xmlns:a16="http://schemas.microsoft.com/office/drawing/2014/main" id="{8CA13BAE-7CFD-46DD-B769-541B7785F682}"/>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 3. Tasas en %. Año 0 incluido como referencia.</a:t>
            </a:r>
          </a:p>
        </p:txBody>
      </p:sp>
      <p:sp>
        <p:nvSpPr>
          <p:cNvPr id="3" name="">
            <a:extLst xmlns:a="http://schemas.openxmlformats.org/drawingml/2006/main">
              <a:ext uri="{FF2B5EF4-FFF2-40B4-BE49-F238E27FC236}">
                <a16:creationId xmlns:a16="http://schemas.microsoft.com/office/drawing/2014/main" id="{1DD1519D-3A38-438D-9820-4D1936EE7AB9}"/>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350E6236-0BE1-4C02-8589-69D0D6CFF73E}"/>
              </a:ext>
            </a:extLst>
          </p:cNvPr>
          <p:cNvSpPr>
            <a:spLocks xmlns:a="http://schemas.openxmlformats.org/drawingml/2006/main" noGrp="1"/>
          </p:cNvSpPr>
          <p:nvPr/>
        </p:nvSpPr>
        <p:spPr>
          <a:xfrm xmlns:a="http://schemas.openxmlformats.org/drawingml/2006/main">
            <a:off x="609600" y="16097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2304B"/>
                </a:solidFill>
                <a:latin typeface="DejaVu Sans"/>
                <a:ea typeface="DejaVu Sans"/>
                <a:cs typeface="DejaVu Sans"/>
              </a:defRPr>
            </a:defPPr>
          </a:lstStyle>
          <a:p xmlns:a="http://schemas.openxmlformats.org/drawingml/2006/main">
            <a:pPr>
              <a:defRPr sz="2025" b="1">
                <a:solidFill>
                  <a:srgbClr val="12304B"/>
                </a:solidFill>
                <a:latin typeface="DejaVu Sans"/>
                <a:ea typeface="DejaVu Sans"/>
                <a:cs typeface="DejaVu Sans"/>
              </a:defRPr>
            </a:pPr>
            <a:r>
              <a:rPr sz="2025" b="1">
                <a:solidFill>
                  <a:srgbClr val="12304B"/>
                </a:solidFill>
                <a:latin typeface="DejaVu Sans"/>
                <a:ea typeface="DejaVu Sans"/>
                <a:cs typeface="DejaVu Sans"/>
              </a:rPr>
              <a:t>Inflación</a:t>
            </a:r>
          </a:p>
        </p:txBody>
      </p:sp>
      <p:sp>
        <p:nvSpPr>
          <p:cNvPr id="5" name="">
            <a:extLst xmlns:a="http://schemas.openxmlformats.org/drawingml/2006/main">
              <a:ext uri="{FF2B5EF4-FFF2-40B4-BE49-F238E27FC236}">
                <a16:creationId xmlns:a16="http://schemas.microsoft.com/office/drawing/2014/main" id="{89294894-D467-4528-8008-9F8A0958058E}"/>
              </a:ext>
            </a:extLst>
          </p:cNvPr>
          <p:cNvSpPr>
            <a:spLocks xmlns:a="http://schemas.openxmlformats.org/drawingml/2006/main" noGrp="1"/>
          </p:cNvSpPr>
          <p:nvPr/>
        </p:nvSpPr>
        <p:spPr>
          <a:xfrm xmlns:a="http://schemas.openxmlformats.org/drawingml/2006/main">
            <a:off x="6286500" y="16097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E87"/>
                </a:solidFill>
                <a:latin typeface="DejaVu Sans"/>
                <a:ea typeface="DejaVu Sans"/>
                <a:cs typeface="DejaVu Sans"/>
              </a:defRPr>
            </a:defPPr>
          </a:lstStyle>
          <a:p xmlns:a="http://schemas.openxmlformats.org/drawingml/2006/main">
            <a:pPr>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Desempleo</a:t>
            </a:r>
          </a:p>
        </p:txBody>
      </p:sp>
      <p:graphicFrame>
        <p:nvGraphicFramePr>
          <p:cNvPr id="6" name="Chart">
            <a:extLst xmlns:a="http://schemas.openxmlformats.org/drawingml/2006/main">
              <a:ext uri="{FF2B5EF4-FFF2-40B4-BE49-F238E27FC236}">
                <a16:creationId xmlns:a16="http://schemas.microsoft.com/office/drawing/2014/main" id="{A3802F85-DAEA-463C-AA74-004017F7ED05}"/>
              </a:ext>
            </a:extLst>
          </p:cNvPr>
          <p:cNvGraphicFramePr/>
          <p:nvPr/>
        </p:nvGraphicFramePr>
        <p:xfrm>
          <a:off xmlns:a="http://schemas.openxmlformats.org/drawingml/2006/main" x="609600" y="2076450"/>
          <a:ext xmlns:a="http://schemas.openxmlformats.org/drawingml/2006/main" cx="5238750" cy="3019425"/>
        </p:xfrm>
        <a:graphic xmlns:a="http://schemas.openxmlformats.org/drawingml/2006/main">
          <a:graphicData uri="http://schemas.openxmlformats.org/drawingml/2006/chart">
            <c:chart xmlns:r="http://schemas.openxmlformats.org/officeDocument/2006/relationships" xmlns:c="http://schemas.openxmlformats.org/drawingml/2006/chart" r:id="Rfa9c230b3ea24f4e"/>
          </a:graphicData>
        </a:graphic>
      </p:graphicFrame>
      <p:graphicFrame>
        <p:nvGraphicFramePr>
          <p:cNvPr id="7" name="Chart">
            <a:extLst xmlns:a="http://schemas.openxmlformats.org/drawingml/2006/main">
              <a:ext uri="{FF2B5EF4-FFF2-40B4-BE49-F238E27FC236}">
                <a16:creationId xmlns:a16="http://schemas.microsoft.com/office/drawing/2014/main" id="{2A41E762-0FB2-4052-853E-E23B486A5FF3}"/>
              </a:ext>
            </a:extLst>
          </p:cNvPr>
          <p:cNvGraphicFramePr/>
          <p:nvPr/>
        </p:nvGraphicFramePr>
        <p:xfrm>
          <a:off xmlns:a="http://schemas.openxmlformats.org/drawingml/2006/main" x="6286500" y="2076450"/>
          <a:ext xmlns:a="http://schemas.openxmlformats.org/drawingml/2006/main" cx="5238750" cy="3019425"/>
        </p:xfrm>
        <a:graphic xmlns:a="http://schemas.openxmlformats.org/drawingml/2006/main">
          <a:graphicData uri="http://schemas.openxmlformats.org/drawingml/2006/chart">
            <c:chart xmlns:r="http://schemas.openxmlformats.org/officeDocument/2006/relationships" xmlns:c="http://schemas.openxmlformats.org/drawingml/2006/chart" r:id="Re149e0901278405a"/>
          </a:graphicData>
        </a:graphic>
      </p:graphicFrame>
      <p:sp>
        <p:nvSpPr>
          <p:cNvPr id="8" name="">
            <a:extLst xmlns:a="http://schemas.openxmlformats.org/drawingml/2006/main">
              <a:ext uri="{FF2B5EF4-FFF2-40B4-BE49-F238E27FC236}">
                <a16:creationId xmlns:a16="http://schemas.microsoft.com/office/drawing/2014/main" id="{7B220DD3-80AB-449B-8889-F55A6F6F5AD2}"/>
              </a:ext>
            </a:extLst>
          </p:cNvPr>
          <p:cNvSpPr>
            <a:spLocks xmlns:a="http://schemas.openxmlformats.org/drawingml/2006/main" noGrp="1"/>
          </p:cNvSpPr>
          <p:nvPr/>
        </p:nvSpPr>
        <p:spPr>
          <a:xfrm xmlns:a="http://schemas.openxmlformats.org/drawingml/2006/main">
            <a:off x="609600" y="5400675"/>
            <a:ext cx="5095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Inflación final: 2,5%</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+0,5 puntos porcentuales frente al inicio.</a:t>
            </a:r>
          </a:p>
        </p:txBody>
      </p:sp>
      <p:sp>
        <p:nvSpPr>
          <p:cNvPr id="9" name="">
            <a:extLst xmlns:a="http://schemas.openxmlformats.org/drawingml/2006/main">
              <a:ext uri="{FF2B5EF4-FFF2-40B4-BE49-F238E27FC236}">
                <a16:creationId xmlns:a16="http://schemas.microsoft.com/office/drawing/2014/main" id="{4A82D22D-71B8-4156-BB5B-164C8EF4CAFC}"/>
              </a:ext>
            </a:extLst>
          </p:cNvPr>
          <p:cNvSpPr>
            <a:spLocks xmlns:a="http://schemas.openxmlformats.org/drawingml/2006/main" noGrp="1"/>
          </p:cNvSpPr>
          <p:nvPr/>
        </p:nvSpPr>
        <p:spPr>
          <a:xfrm xmlns:a="http://schemas.openxmlformats.org/drawingml/2006/main">
            <a:off x="6286500" y="54006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Desempleo final: 5,2%</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+0,2 puntos porcentuales frente al inicio.</a:t>
            </a:r>
          </a:p>
        </p:txBody>
      </p:sp>
    </p:spTree>
    <p:extLst>
      <p:ext uri="{BB962C8B-B14F-4D97-AF65-F5344CB8AC3E}">
        <p14:creationId xmlns:p14="http://schemas.microsoft.com/office/powerpoint/2010/main" val="1279001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D1A7CE-DF1D-4492-8318-91141ED5934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Bajó deuda/PIB, pero la deuda siguió creciendo</a:t>
            </a:r>
          </a:p>
        </p:txBody>
      </p:sp>
      <p:sp>
        <p:nvSpPr>
          <p:cNvPr id="2" name="">
            <a:extLst xmlns:a="http://schemas.openxmlformats.org/drawingml/2006/main">
              <a:ext uri="{FF2B5EF4-FFF2-40B4-BE49-F238E27FC236}">
                <a16:creationId xmlns:a16="http://schemas.microsoft.com/office/drawing/2014/main" id="{910D7E0C-A758-4954-98CF-3FC59B202FCA}"/>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tablas 1–3. Saldo fiscal en US$ miles de millones. Ratios calculados con PIB nominal.</a:t>
            </a:r>
          </a:p>
        </p:txBody>
      </p:sp>
      <p:sp>
        <p:nvSpPr>
          <p:cNvPr id="3" name="">
            <a:extLst xmlns:a="http://schemas.openxmlformats.org/drawingml/2006/main">
              <a:ext uri="{FF2B5EF4-FFF2-40B4-BE49-F238E27FC236}">
                <a16:creationId xmlns:a16="http://schemas.microsoft.com/office/drawing/2014/main" id="{86315D33-224D-48D8-8016-AADFDB3C3F80}"/>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AF61D858-F18F-4729-8860-E081DF1DBF23}"/>
              </a:ext>
            </a:extLst>
          </p:cNvPr>
          <p:cNvGraphicFramePr/>
          <p:nvPr/>
        </p:nvGraphicFramePr>
        <p:xfrm>
          <a:off xmlns:a="http://schemas.openxmlformats.org/drawingml/2006/main" x="609600" y="1866900"/>
          <a:ext xmlns:a="http://schemas.openxmlformats.org/drawingml/2006/main" cx="5857875" cy="3295650"/>
        </p:xfrm>
        <a:graphic xmlns:a="http://schemas.openxmlformats.org/drawingml/2006/main">
          <a:graphicData uri="http://schemas.openxmlformats.org/drawingml/2006/chart">
            <c:chart xmlns:r="http://schemas.openxmlformats.org/officeDocument/2006/relationships" xmlns:c="http://schemas.openxmlformats.org/drawingml/2006/chart" r:id="Rc8c9ae6eabbd4c23"/>
          </a:graphicData>
        </a:graphic>
      </p:graphicFrame>
      <p:graphicFrame>
        <p:nvGraphicFramePr>
          <p:cNvPr id="5" name="">
            <a:extLst xmlns:a="http://schemas.openxmlformats.org/drawingml/2006/main">
              <a:ext uri="{FF2B5EF4-FFF2-40B4-BE49-F238E27FC236}">
                <a16:creationId xmlns:a16="http://schemas.microsoft.com/office/drawing/2014/main" id="{104971CC-1759-42A7-9EB7-574A30AB1EBE}"/>
              </a:ext>
            </a:extLst>
          </p:cNvPr>
          <p:cNvGraphicFramePr/>
          <p:nvPr/>
        </p:nvGraphicFramePr>
        <p:xfrm>
          <a:off xmlns:a="http://schemas.openxmlformats.org/drawingml/2006/main" x="7000875" y="1952625"/>
          <a:ext xmlns:a="http://schemas.openxmlformats.org/drawingml/2006/main" cx="4581525" cy="2476500"/>
        </p:xfrm>
        <a:graphic xmlns:a="http://schemas.openxmlformats.org/drawingml/2006/main">
          <a:graphicData uri="http://schemas.openxmlformats.org/drawingml/2006/table">
            <a:tbl>
              <a:tblPr/>
              <a:tblGrid>
                <a:gridCol w="2105025"/>
                <a:gridCol w="1238250"/>
                <a:gridCol w="1238250"/>
              </a:tblGrid>
              <a:tr h="619125">
                <a:tc>
                  <a:txBody>
                    <a:bodyPr lIns="95250" tIns="95250" rIns="95250" bIns="95250"/>
                    <a:lstStyle/>
                    <a:p>
                      <a:pPr algn="l"/>
                      <a:r>
                        <a:rPr sz="1725" b="1">
                          <a:solidFill>
                            <a:srgbClr val="FFFFFF"/>
                          </a:solidFill>
                          <a:latin typeface="DejaVu Sans"/>
                          <a:ea typeface="DejaVu Sans"/>
                          <a:cs typeface="DejaVu Sans"/>
                        </a:rPr>
                        <a:t>Indicador</a:t>
                      </a:r>
                    </a:p>
                  </a:txBody>
                  <a:tcPr marL="91440" marR="91440" marT="45720" marB="45720" anchor="ctr">
                    <a:solidFill>
                      <a:srgbClr val="12304B"/>
                    </a:solidFill>
                  </a:tcPr>
                </a:tc>
                <a:tc>
                  <a:txBody>
                    <a:bodyPr lIns="95250" tIns="95250" rIns="95250" bIns="95250"/>
                    <a:lstStyle/>
                    <a:p>
                      <a:pPr algn="ctr"/>
                      <a:r>
                        <a:rPr sz="1725" b="1">
                          <a:solidFill>
                            <a:srgbClr val="FFFFFF"/>
                          </a:solidFill>
                          <a:latin typeface="DejaVu Sans"/>
                          <a:ea typeface="DejaVu Sans"/>
                          <a:cs typeface="DejaVu Sans"/>
                        </a:rPr>
                        <a:t>Año 0</a:t>
                      </a:r>
                    </a:p>
                  </a:txBody>
                  <a:tcPr marL="91440" marR="91440" marT="45720" marB="45720" anchor="ctr">
                    <a:solidFill>
                      <a:srgbClr val="12304B"/>
                    </a:solidFill>
                  </a:tcPr>
                </a:tc>
                <a:tc>
                  <a:txBody>
                    <a:bodyPr lIns="95250" tIns="95250" rIns="95250" bIns="95250"/>
                    <a:lstStyle/>
                    <a:p>
                      <a:pPr algn="ctr"/>
                      <a:r>
                        <a:rPr sz="1725" b="1">
                          <a:solidFill>
                            <a:srgbClr val="FFFFFF"/>
                          </a:solidFill>
                          <a:latin typeface="DejaVu Sans"/>
                          <a:ea typeface="DejaVu Sans"/>
                          <a:cs typeface="DejaVu Sans"/>
                        </a:rPr>
                        <a:t>Año 7</a:t>
                      </a:r>
                    </a:p>
                  </a:txBody>
                  <a:tcPr marL="91440" marR="91440" marT="45720" marB="45720" anchor="ctr">
                    <a:solidFill>
                      <a:srgbClr val="12304B"/>
                    </a:solidFill>
                  </a:tcPr>
                </a:tc>
              </a:tr>
              <a:tr h="619125">
                <a:tc>
                  <a:txBody>
                    <a:bodyPr lIns="95250" tIns="95250" rIns="95250" bIns="95250"/>
                    <a:lstStyle/>
                    <a:p>
                      <a:pPr algn="l"/>
                      <a:r>
                        <a:rPr sz="1725" b="0">
                          <a:solidFill>
                            <a:srgbClr val="12304B"/>
                          </a:solidFill>
                          <a:latin typeface="DejaVu Sans"/>
                          <a:ea typeface="DejaVu Sans"/>
                          <a:cs typeface="DejaVu Sans"/>
                        </a:rPr>
                        <a:t>Deuda nominal</a:t>
                      </a:r>
                    </a:p>
                  </a:txBody>
                  <a:tcPr marL="91440" marR="91440" marT="45720" marB="45720" anchor="ctr">
                    <a:solidFill>
                      <a:srgbClr val="F0F5F6"/>
                    </a:solidFill>
                  </a:tcPr>
                </a:tc>
                <a:tc>
                  <a:txBody>
                    <a:bodyPr lIns="95250" tIns="95250" rIns="95250" bIns="95250"/>
                    <a:lstStyle/>
                    <a:p>
                      <a:pPr algn="ctr"/>
                      <a:r>
                        <a:rPr sz="1725" b="0">
                          <a:solidFill>
                            <a:srgbClr val="12304B"/>
                          </a:solidFill>
                          <a:latin typeface="DejaVu Sans"/>
                          <a:ea typeface="DejaVu Sans"/>
                          <a:cs typeface="DejaVu Sans"/>
                        </a:rPr>
                        <a:t>60,0</a:t>
                      </a:r>
                    </a:p>
                  </a:txBody>
                  <a:tcPr marL="91440" marR="91440" marT="45720" marB="45720" anchor="ctr">
                    <a:solidFill>
                      <a:srgbClr val="F0F5F6"/>
                    </a:solidFill>
                  </a:tcPr>
                </a:tc>
                <a:tc>
                  <a:txBody>
                    <a:bodyPr lIns="95250" tIns="95250" rIns="95250" bIns="95250"/>
                    <a:lstStyle/>
                    <a:p>
                      <a:pPr algn="ctr"/>
                      <a:r>
                        <a:rPr sz="1725" b="0">
                          <a:solidFill>
                            <a:srgbClr val="12304B"/>
                          </a:solidFill>
                          <a:latin typeface="DejaVu Sans"/>
                          <a:ea typeface="DejaVu Sans"/>
                          <a:cs typeface="DejaVu Sans"/>
                        </a:rPr>
                        <a:t>71,7</a:t>
                      </a:r>
                    </a:p>
                  </a:txBody>
                  <a:tcPr marL="91440" marR="91440" marT="45720" marB="45720" anchor="ctr">
                    <a:solidFill>
                      <a:srgbClr val="F0F5F6"/>
                    </a:solidFill>
                  </a:tcPr>
                </a:tc>
              </a:tr>
              <a:tr h="619125">
                <a:tc>
                  <a:txBody>
                    <a:bodyPr lIns="95250" tIns="95250" rIns="95250" bIns="95250"/>
                    <a:lstStyle/>
                    <a:p>
                      <a:pPr algn="l"/>
                      <a:r>
                        <a:rPr sz="1725" b="0">
                          <a:solidFill>
                            <a:srgbClr val="12304B"/>
                          </a:solidFill>
                          <a:latin typeface="DejaVu Sans"/>
                          <a:ea typeface="DejaVu Sans"/>
                          <a:cs typeface="DejaVu Sans"/>
                        </a:rPr>
                        <a:t>PIB nominal</a:t>
                      </a:r>
                    </a:p>
                  </a:txBody>
                  <a:tcPr marL="91440" marR="91440" marT="45720" marB="45720" anchor="ctr">
                    <a:solidFill>
                      <a:srgbClr val="FFFFFF"/>
                    </a:solidFill>
                  </a:tcPr>
                </a:tc>
                <a:tc>
                  <a:txBody>
                    <a:bodyPr lIns="95250" tIns="95250" rIns="95250" bIns="95250"/>
                    <a:lstStyle/>
                    <a:p>
                      <a:pPr algn="ctr"/>
                      <a:r>
                        <a:rPr sz="1725" b="0">
                          <a:solidFill>
                            <a:srgbClr val="12304B"/>
                          </a:solidFill>
                          <a:latin typeface="DejaVu Sans"/>
                          <a:ea typeface="DejaVu Sans"/>
                          <a:cs typeface="DejaVu Sans"/>
                        </a:rPr>
                        <a:t>100,0</a:t>
                      </a:r>
                    </a:p>
                  </a:txBody>
                  <a:tcPr marL="91440" marR="91440" marT="45720" marB="45720" anchor="ctr">
                    <a:solidFill>
                      <a:srgbClr val="FFFFFF"/>
                    </a:solidFill>
                  </a:tcPr>
                </a:tc>
                <a:tc>
                  <a:txBody>
                    <a:bodyPr lIns="95250" tIns="95250" rIns="95250" bIns="95250"/>
                    <a:lstStyle/>
                    <a:p>
                      <a:pPr algn="ctr"/>
                      <a:r>
                        <a:rPr sz="1725" b="0">
                          <a:solidFill>
                            <a:srgbClr val="12304B"/>
                          </a:solidFill>
                          <a:latin typeface="DejaVu Sans"/>
                          <a:ea typeface="DejaVu Sans"/>
                          <a:cs typeface="DejaVu Sans"/>
                        </a:rPr>
                        <a:t>134,2</a:t>
                      </a:r>
                    </a:p>
                  </a:txBody>
                  <a:tcPr marL="91440" marR="91440" marT="45720" marB="45720" anchor="ctr">
                    <a:solidFill>
                      <a:srgbClr val="FFFFFF"/>
                    </a:solidFill>
                  </a:tcPr>
                </a:tc>
              </a:tr>
              <a:tr h="619125">
                <a:tc>
                  <a:txBody>
                    <a:bodyPr lIns="95250" tIns="95250" rIns="95250" bIns="95250"/>
                    <a:lstStyle/>
                    <a:p>
                      <a:pPr algn="l"/>
                      <a:r>
                        <a:rPr sz="1725" b="0">
                          <a:solidFill>
                            <a:srgbClr val="12304B"/>
                          </a:solidFill>
                          <a:latin typeface="DejaVu Sans"/>
                          <a:ea typeface="DejaVu Sans"/>
                          <a:cs typeface="DejaVu Sans"/>
                        </a:rPr>
                        <a:t>Deuda / PIB</a:t>
                      </a:r>
                    </a:p>
                  </a:txBody>
                  <a:tcPr marL="91440" marR="91440" marT="45720" marB="45720" anchor="ctr">
                    <a:solidFill>
                      <a:srgbClr val="F0F5F6"/>
                    </a:solidFill>
                  </a:tcPr>
                </a:tc>
                <a:tc>
                  <a:txBody>
                    <a:bodyPr lIns="95250" tIns="95250" rIns="95250" bIns="95250"/>
                    <a:lstStyle/>
                    <a:p>
                      <a:pPr algn="ctr"/>
                      <a:r>
                        <a:rPr sz="1725" b="0">
                          <a:solidFill>
                            <a:srgbClr val="12304B"/>
                          </a:solidFill>
                          <a:latin typeface="DejaVu Sans"/>
                          <a:ea typeface="DejaVu Sans"/>
                          <a:cs typeface="DejaVu Sans"/>
                        </a:rPr>
                        <a:t>60,0%</a:t>
                      </a:r>
                    </a:p>
                  </a:txBody>
                  <a:tcPr marL="91440" marR="91440" marT="45720" marB="45720" anchor="ctr">
                    <a:solidFill>
                      <a:srgbClr val="F0F5F6"/>
                    </a:solidFill>
                  </a:tcPr>
                </a:tc>
                <a:tc>
                  <a:txBody>
                    <a:bodyPr lIns="95250" tIns="95250" rIns="95250" bIns="95250"/>
                    <a:lstStyle/>
                    <a:p>
                      <a:pPr algn="ctr"/>
                      <a:r>
                        <a:rPr sz="1725" b="0">
                          <a:solidFill>
                            <a:srgbClr val="12304B"/>
                          </a:solidFill>
                          <a:latin typeface="DejaVu Sans"/>
                          <a:ea typeface="DejaVu Sans"/>
                          <a:cs typeface="DejaVu Sans"/>
                        </a:rPr>
                        <a:t>53,4%</a:t>
                      </a:r>
                    </a:p>
                  </a:txBody>
                  <a:tcPr marL="91440" marR="91440" marT="45720" marB="45720" anchor="ctr">
                    <a:solidFill>
                      <a:srgbClr val="F0F5F6"/>
                    </a:solidFill>
                  </a:tcPr>
                </a:tc>
              </a:tr>
            </a:tbl>
          </a:graphicData>
        </a:graphic>
      </p:graphicFrame>
      <p:sp>
        <p:nvSpPr>
          <p:cNvPr id="6" name="">
            <a:extLst xmlns:a="http://schemas.openxmlformats.org/drawingml/2006/main">
              <a:ext uri="{FF2B5EF4-FFF2-40B4-BE49-F238E27FC236}">
                <a16:creationId xmlns:a16="http://schemas.microsoft.com/office/drawing/2014/main" id="{8C77FFC2-A2F1-4C14-A063-7695CAE3C35B}"/>
              </a:ext>
            </a:extLst>
          </p:cNvPr>
          <p:cNvSpPr>
            <a:spLocks xmlns:a="http://schemas.openxmlformats.org/drawingml/2006/main" noGrp="1"/>
          </p:cNvSpPr>
          <p:nvPr/>
        </p:nvSpPr>
        <p:spPr>
          <a:xfrm xmlns:a="http://schemas.openxmlformats.org/drawingml/2006/main">
            <a:off x="7000875" y="4733925"/>
            <a:ext cx="452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E87"/>
                </a:solidFill>
                <a:latin typeface="DejaVu Sans"/>
                <a:ea typeface="DejaVu Sans"/>
                <a:cs typeface="DejaVu Sans"/>
              </a:defRPr>
            </a:defPPr>
          </a:lstStyle>
          <a:p xmlns:a="http://schemas.openxmlformats.org/drawingml/2006/main">
            <a:pPr>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Deuda nominal: +19,5%</a:t>
            </a:r>
          </a:p>
          <a:p xmlns:a="http://schemas.openxmlformats.org/drawingml/2006/main">
            <a:pPr>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PIB nominal: +34,2%</a:t>
            </a:r>
          </a:p>
        </p:txBody>
      </p:sp>
      <p:sp>
        <p:nvSpPr>
          <p:cNvPr id="7" name="">
            <a:extLst xmlns:a="http://schemas.openxmlformats.org/drawingml/2006/main">
              <a:ext uri="{FF2B5EF4-FFF2-40B4-BE49-F238E27FC236}">
                <a16:creationId xmlns:a16="http://schemas.microsoft.com/office/drawing/2014/main" id="{1511B2B8-1F96-4A28-9DF9-9BCE822394ED}"/>
              </a:ext>
            </a:extLst>
          </p:cNvPr>
          <p:cNvSpPr>
            <a:spLocks xmlns:a="http://schemas.openxmlformats.org/drawingml/2006/main" noGrp="1"/>
          </p:cNvSpPr>
          <p:nvPr/>
        </p:nvSpPr>
        <p:spPr>
          <a:xfrm xmlns:a="http://schemas.openxmlformats.org/drawingml/2006/main">
            <a:off x="609600" y="5791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1616C"/>
                </a:solidFill>
                <a:latin typeface="DejaVu Sans"/>
                <a:ea typeface="DejaVu Sans"/>
                <a:cs typeface="DejaVu Sans"/>
              </a:defRPr>
            </a:defPPr>
          </a:lstStyle>
          <a:p xmlns:a="http://schemas.openxmlformats.org/drawingml/2006/main">
            <a:pPr>
              <a:defRPr sz="1950" b="0">
                <a:solidFill>
                  <a:srgbClr val="51616C"/>
                </a:solidFill>
                <a:latin typeface="DejaVu Sans"/>
                <a:ea typeface="DejaVu Sans"/>
                <a:cs typeface="DejaVu Sans"/>
              </a:defRPr>
            </a:pPr>
            <a:r>
              <a:rPr sz="1950" b="0">
                <a:solidFill>
                  <a:srgbClr val="51616C"/>
                </a:solidFill>
                <a:latin typeface="DejaVu Sans"/>
                <a:ea typeface="DejaVu Sans"/>
                <a:cs typeface="DejaVu Sans"/>
              </a:rPr>
              <a:t>El mayor PIB nominal explica la caída del ratio. El déficit final fue 1,4.</a:t>
            </a:r>
          </a:p>
        </p:txBody>
      </p:sp>
    </p:spTree>
    <p:extLst>
      <p:ext uri="{BB962C8B-B14F-4D97-AF65-F5344CB8AC3E}">
        <p14:creationId xmlns:p14="http://schemas.microsoft.com/office/powerpoint/2010/main" val="4625887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53C99D-24A5-4B5B-ADA1-8E19999DEF7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El déficit comercial persistió hasta el cierre</a:t>
            </a:r>
          </a:p>
        </p:txBody>
      </p:sp>
      <p:sp>
        <p:nvSpPr>
          <p:cNvPr id="2" name="">
            <a:extLst xmlns:a="http://schemas.openxmlformats.org/drawingml/2006/main">
              <a:ext uri="{FF2B5EF4-FFF2-40B4-BE49-F238E27FC236}">
                <a16:creationId xmlns:a16="http://schemas.microsoft.com/office/drawing/2014/main" id="{C9303FCF-5C68-43E7-9543-AEF3B64C268E}"/>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tablas 1–2 y evaluación final. Comercio nominal en US$ miles de millones.</a:t>
            </a:r>
          </a:p>
        </p:txBody>
      </p:sp>
      <p:sp>
        <p:nvSpPr>
          <p:cNvPr id="3" name="">
            <a:extLst xmlns:a="http://schemas.openxmlformats.org/drawingml/2006/main">
              <a:ext uri="{FF2B5EF4-FFF2-40B4-BE49-F238E27FC236}">
                <a16:creationId xmlns:a16="http://schemas.microsoft.com/office/drawing/2014/main" id="{CBD2E594-4F89-4581-B991-CA713B7B0FCD}"/>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08</a:t>
            </a:r>
          </a:p>
        </p:txBody>
      </p:sp>
      <p:graphicFrame>
        <p:nvGraphicFramePr>
          <p:cNvPr id="4" name="Chart">
            <a:extLst xmlns:a="http://schemas.openxmlformats.org/drawingml/2006/main">
              <a:ext uri="{FF2B5EF4-FFF2-40B4-BE49-F238E27FC236}">
                <a16:creationId xmlns:a16="http://schemas.microsoft.com/office/drawing/2014/main" id="{32322D09-6F6F-433F-945A-199488D1A716}"/>
              </a:ext>
            </a:extLst>
          </p:cNvPr>
          <p:cNvGraphicFramePr/>
          <p:nvPr/>
        </p:nvGraphicFramePr>
        <p:xfrm>
          <a:off xmlns:a="http://schemas.openxmlformats.org/drawingml/2006/main" x="609600" y="1733550"/>
          <a:ext xmlns:a="http://schemas.openxmlformats.org/drawingml/2006/main" cx="7115175" cy="3467100"/>
        </p:xfrm>
        <a:graphic xmlns:a="http://schemas.openxmlformats.org/drawingml/2006/main">
          <a:graphicData uri="http://schemas.openxmlformats.org/drawingml/2006/chart">
            <c:chart xmlns:r="http://schemas.openxmlformats.org/officeDocument/2006/relationships" xmlns:c="http://schemas.openxmlformats.org/drawingml/2006/chart" r:id="Rd1c03b34b68d4b01"/>
          </a:graphicData>
        </a:graphic>
      </p:graphicFrame>
      <p:sp>
        <p:nvSpPr>
          <p:cNvPr id="5" name="">
            <a:extLst xmlns:a="http://schemas.openxmlformats.org/drawingml/2006/main">
              <a:ext uri="{FF2B5EF4-FFF2-40B4-BE49-F238E27FC236}">
                <a16:creationId xmlns:a16="http://schemas.microsoft.com/office/drawing/2014/main" id="{9DB8AF2A-5132-4CED-8A5E-B6013797B0BE}"/>
              </a:ext>
            </a:extLst>
          </p:cNvPr>
          <p:cNvSpPr>
            <a:spLocks xmlns:a="http://schemas.openxmlformats.org/drawingml/2006/main" noGrp="1"/>
          </p:cNvSpPr>
          <p:nvPr/>
        </p:nvSpPr>
        <p:spPr>
          <a:xfrm xmlns:a="http://schemas.openxmlformats.org/drawingml/2006/main">
            <a:off x="8334375" y="18764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007E87"/>
                </a:solidFill>
                <a:latin typeface="DejaVu Sans"/>
                <a:ea typeface="DejaVu Sans"/>
                <a:cs typeface="DejaVu Sans"/>
              </a:defRPr>
            </a:defPPr>
          </a:lstStyle>
          <a:p xmlns:a="http://schemas.openxmlformats.org/drawingml/2006/main">
            <a:pPr>
              <a:defRPr sz="3900" b="1">
                <a:solidFill>
                  <a:srgbClr val="007E87"/>
                </a:solidFill>
                <a:latin typeface="DejaVu Sans"/>
                <a:ea typeface="DejaVu Sans"/>
                <a:cs typeface="DejaVu Sans"/>
              </a:defRPr>
            </a:pPr>
            <a:r>
              <a:rPr sz="3900" b="1">
                <a:solidFill>
                  <a:srgbClr val="007E87"/>
                </a:solidFill>
                <a:latin typeface="DejaVu Sans"/>
                <a:ea typeface="DejaVu Sans"/>
                <a:cs typeface="DejaVu Sans"/>
              </a:rPr>
              <a:t>−2,8</a:t>
            </a:r>
          </a:p>
        </p:txBody>
      </p:sp>
      <p:sp>
        <p:nvSpPr>
          <p:cNvPr id="6" name="">
            <a:extLst xmlns:a="http://schemas.openxmlformats.org/drawingml/2006/main">
              <a:ext uri="{FF2B5EF4-FFF2-40B4-BE49-F238E27FC236}">
                <a16:creationId xmlns:a16="http://schemas.microsoft.com/office/drawing/2014/main" id="{1B823D42-05FD-47A6-807E-EED5027576C7}"/>
              </a:ext>
            </a:extLst>
          </p:cNvPr>
          <p:cNvSpPr>
            <a:spLocks xmlns:a="http://schemas.openxmlformats.org/drawingml/2006/main" noGrp="1"/>
          </p:cNvSpPr>
          <p:nvPr/>
        </p:nvSpPr>
        <p:spPr>
          <a:xfrm xmlns:a="http://schemas.openxmlformats.org/drawingml/2006/main">
            <a:off x="8334375" y="25908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2304B"/>
                </a:solidFill>
                <a:latin typeface="DejaVu Sans"/>
                <a:ea typeface="DejaVu Sans"/>
                <a:cs typeface="DejaVu Sans"/>
              </a:defRPr>
            </a:defPPr>
          </a:lstStyle>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Saldo comercial final</a:t>
            </a:r>
          </a:p>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 −2,1% del PIB</a:t>
            </a:r>
          </a:p>
        </p:txBody>
      </p:sp>
      <p:sp>
        <p:nvSpPr>
          <p:cNvPr id="7" name="">
            <a:extLst xmlns:a="http://schemas.openxmlformats.org/drawingml/2006/main">
              <a:ext uri="{FF2B5EF4-FFF2-40B4-BE49-F238E27FC236}">
                <a16:creationId xmlns:a16="http://schemas.microsoft.com/office/drawing/2014/main" id="{82C3C26C-D2E1-4384-BC47-91FF41290549}"/>
              </a:ext>
            </a:extLst>
          </p:cNvPr>
          <p:cNvSpPr>
            <a:spLocks xmlns:a="http://schemas.openxmlformats.org/drawingml/2006/main" noGrp="1"/>
          </p:cNvSpPr>
          <p:nvPr/>
        </p:nvSpPr>
        <p:spPr>
          <a:xfrm xmlns:a="http://schemas.openxmlformats.org/drawingml/2006/main">
            <a:off x="8334375" y="387667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2304B"/>
                </a:solidFill>
                <a:latin typeface="DejaVu Sans"/>
                <a:ea typeface="DejaVu Sans"/>
                <a:cs typeface="DejaVu Sans"/>
              </a:defRPr>
            </a:defPPr>
          </a:lstStyle>
          <a:p xmlns:a="http://schemas.openxmlformats.org/drawingml/2006/main">
            <a:pPr>
              <a:defRPr sz="2700" b="1">
                <a:solidFill>
                  <a:srgbClr val="12304B"/>
                </a:solidFill>
                <a:latin typeface="DejaVu Sans"/>
                <a:ea typeface="DejaVu Sans"/>
                <a:cs typeface="DejaVu Sans"/>
              </a:defRPr>
            </a:pPr>
            <a:r>
              <a:rPr sz="2700" b="1">
                <a:solidFill>
                  <a:srgbClr val="12304B"/>
                </a:solidFill>
                <a:latin typeface="DejaVu Sans"/>
                <a:ea typeface="DejaVu Sans"/>
                <a:cs typeface="DejaVu Sans"/>
              </a:rPr>
              <a:t>69 puntos</a:t>
            </a:r>
          </a:p>
        </p:txBody>
      </p:sp>
      <p:sp>
        <p:nvSpPr>
          <p:cNvPr id="8" name="">
            <a:extLst xmlns:a="http://schemas.openxmlformats.org/drawingml/2006/main">
              <a:ext uri="{FF2B5EF4-FFF2-40B4-BE49-F238E27FC236}">
                <a16:creationId xmlns:a16="http://schemas.microsoft.com/office/drawing/2014/main" id="{AB95D6C3-210A-4B6B-B2B9-70262937AF9B}"/>
              </a:ext>
            </a:extLst>
          </p:cNvPr>
          <p:cNvSpPr>
            <a:spLocks xmlns:a="http://schemas.openxmlformats.org/drawingml/2006/main" noGrp="1"/>
          </p:cNvSpPr>
          <p:nvPr/>
        </p:nvSpPr>
        <p:spPr>
          <a:xfrm xmlns:a="http://schemas.openxmlformats.org/drawingml/2006/main">
            <a:off x="8334375" y="45339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2304B"/>
                </a:solidFill>
                <a:latin typeface="DejaVu Sans"/>
                <a:ea typeface="DejaVu Sans"/>
                <a:cs typeface="DejaVu Sans"/>
              </a:defRPr>
            </a:defPPr>
          </a:lstStyle>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Aprobación promedio</a:t>
            </a:r>
          </a:p>
          <a:p xmlns:a="http://schemas.openxmlformats.org/drawingml/2006/main">
            <a:pPr>
              <a:defRPr sz="1875" b="0">
                <a:solidFill>
                  <a:srgbClr val="12304B"/>
                </a:solidFill>
                <a:latin typeface="DejaVu Sans"/>
                <a:ea typeface="DejaVu Sans"/>
                <a:cs typeface="DejaVu Sans"/>
              </a:defRPr>
            </a:pPr>
            <a:r>
              <a:rPr sz="1875" b="0">
                <a:solidFill>
                  <a:srgbClr val="12304B"/>
                </a:solidFill>
                <a:latin typeface="DejaVu Sans"/>
                <a:ea typeface="DejaVu Sans"/>
                <a:cs typeface="DejaVu Sans"/>
              </a:rPr>
              <a:t>60 puntos en el año 7</a:t>
            </a:r>
          </a:p>
        </p:txBody>
      </p:sp>
      <p:sp>
        <p:nvSpPr>
          <p:cNvPr id="9" name="">
            <a:extLst xmlns:a="http://schemas.openxmlformats.org/drawingml/2006/main">
              <a:ext uri="{FF2B5EF4-FFF2-40B4-BE49-F238E27FC236}">
                <a16:creationId xmlns:a16="http://schemas.microsoft.com/office/drawing/2014/main" id="{36025FBB-DBF9-46BE-9B1F-04F32A7082B0}"/>
              </a:ext>
            </a:extLst>
          </p:cNvPr>
          <p:cNvSpPr>
            <a:spLocks xmlns:a="http://schemas.openxmlformats.org/drawingml/2006/main" noGrp="1"/>
          </p:cNvSpPr>
          <p:nvPr/>
        </p:nvSpPr>
        <p:spPr>
          <a:xfrm xmlns:a="http://schemas.openxmlformats.org/drawingml/2006/main">
            <a:off x="609600" y="57150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1616C"/>
                </a:solidFill>
                <a:latin typeface="DejaVu Sans"/>
                <a:ea typeface="DejaVu Sans"/>
                <a:cs typeface="DejaVu Sans"/>
              </a:defRPr>
            </a:defPPr>
          </a:lstStyle>
          <a:p xmlns:a="http://schemas.openxmlformats.org/drawingml/2006/main">
            <a:pPr>
              <a:defRPr sz="1800" b="0">
                <a:solidFill>
                  <a:srgbClr val="51616C"/>
                </a:solidFill>
                <a:latin typeface="DejaVu Sans"/>
                <a:ea typeface="DejaVu Sans"/>
                <a:cs typeface="DejaVu Sans"/>
              </a:defRPr>
            </a:pPr>
            <a:r>
              <a:rPr sz="1800" b="0">
                <a:solidFill>
                  <a:srgbClr val="51616C"/>
                </a:solidFill>
                <a:latin typeface="DejaVu Sans"/>
                <a:ea typeface="DejaVu Sans"/>
                <a:cs typeface="DejaVu Sans"/>
              </a:rPr>
              <a:t>Índice cambiario: 100,0 a 93,2. Sin definición, su dirección no se interpreta.</a:t>
            </a:r>
          </a:p>
        </p:txBody>
      </p:sp>
    </p:spTree>
    <p:extLst>
      <p:ext uri="{BB962C8B-B14F-4D97-AF65-F5344CB8AC3E}">
        <p14:creationId xmlns:p14="http://schemas.microsoft.com/office/powerpoint/2010/main" val="18686209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E0EFFB-8C8F-4DEC-9783-825EE39EEF34}"/>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2304B"/>
                </a:solidFill>
                <a:latin typeface="DejaVu Sans"/>
                <a:ea typeface="DejaVu Sans"/>
                <a:cs typeface="DejaVu Sans"/>
              </a:defRPr>
            </a:defPPr>
          </a:lstStyle>
          <a:p xmlns:a="http://schemas.openxmlformats.org/drawingml/2006/main">
            <a:pPr>
              <a:defRPr sz="3150" b="1">
                <a:solidFill>
                  <a:srgbClr val="12304B"/>
                </a:solidFill>
                <a:latin typeface="DejaVu Sans"/>
                <a:ea typeface="DejaVu Sans"/>
                <a:cs typeface="DejaVu Sans"/>
              </a:defRPr>
            </a:pPr>
            <a:r>
              <a:rPr sz="3150" b="1">
                <a:solidFill>
                  <a:srgbClr val="12304B"/>
                </a:solidFill>
                <a:latin typeface="DejaVu Sans"/>
                <a:ea typeface="DejaVu Sans"/>
                <a:cs typeface="DejaVu Sans"/>
              </a:rPr>
              <a:t>La continuidad exige más crecimiento y empleo</a:t>
            </a:r>
          </a:p>
        </p:txBody>
      </p:sp>
      <p:sp>
        <p:nvSpPr>
          <p:cNvPr id="2" name="">
            <a:extLst xmlns:a="http://schemas.openxmlformats.org/drawingml/2006/main">
              <a:ext uri="{FF2B5EF4-FFF2-40B4-BE49-F238E27FC236}">
                <a16:creationId xmlns:a16="http://schemas.microsoft.com/office/drawing/2014/main" id="{7260D464-4D57-4062-BE2A-5EEA532AD44C}"/>
              </a:ext>
            </a:extLst>
          </p:cNvPr>
          <p:cNvSpPr>
            <a:spLocks xmlns:a="http://schemas.openxmlformats.org/drawingml/2006/main" noGrp="1"/>
          </p:cNvSpPr>
          <p:nvPr/>
        </p:nvSpPr>
        <p:spPr>
          <a:xfrm xmlns:a="http://schemas.openxmlformats.org/drawingml/2006/main">
            <a:off x="609600" y="6410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1616C"/>
                </a:solidFill>
                <a:latin typeface="DejaVu Sans"/>
                <a:ea typeface="DejaVu Sans"/>
                <a:cs typeface="DejaVu Sans"/>
              </a:defRPr>
            </a:defPPr>
          </a:lstStyle>
          <a:p xmlns:a="http://schemas.openxmlformats.org/drawingml/2006/main">
            <a:pPr>
              <a:defRPr sz="1125" b="0">
                <a:solidFill>
                  <a:srgbClr val="51616C"/>
                </a:solidFill>
                <a:latin typeface="DejaVu Sans"/>
                <a:ea typeface="DejaVu Sans"/>
                <a:cs typeface="DejaVu Sans"/>
              </a:defRPr>
            </a:pPr>
            <a:r>
              <a:rPr sz="1125" b="0">
                <a:solidFill>
                  <a:srgbClr val="51616C"/>
                </a:solidFill>
                <a:latin typeface="DejaVu Sans"/>
                <a:ea typeface="DejaVu Sans"/>
                <a:cs typeface="DejaVu Sans"/>
              </a:rPr>
              <a:t>Fuente: síntesis de las tablas finales del archivo adjunto. Prioridades propuestas a partir de resultados.</a:t>
            </a:r>
          </a:p>
        </p:txBody>
      </p:sp>
      <p:sp>
        <p:nvSpPr>
          <p:cNvPr id="3" name="">
            <a:extLst xmlns:a="http://schemas.openxmlformats.org/drawingml/2006/main">
              <a:ext uri="{FF2B5EF4-FFF2-40B4-BE49-F238E27FC236}">
                <a16:creationId xmlns:a16="http://schemas.microsoft.com/office/drawing/2014/main" id="{4C0F585A-D369-4060-93A8-F2D9A6238678}"/>
              </a:ext>
            </a:extLst>
          </p:cNvPr>
          <p:cNvSpPr>
            <a:spLocks xmlns:a="http://schemas.openxmlformats.org/drawingml/2006/main" noGrp="1"/>
          </p:cNvSpPr>
          <p:nvPr/>
        </p:nvSpPr>
        <p:spPr>
          <a:xfrm xmlns:a="http://schemas.openxmlformats.org/drawingml/2006/main">
            <a:off x="11049000" y="63912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7E87"/>
                </a:solidFill>
                <a:latin typeface="DejaVu Sans"/>
                <a:ea typeface="DejaVu Sans"/>
                <a:cs typeface="DejaVu Sans"/>
              </a:defRPr>
            </a:defPPr>
          </a:lstStyle>
          <a:p xmlns:a="http://schemas.openxmlformats.org/drawingml/2006/main">
            <a:pPr>
              <a:defRPr sz="1350" b="1">
                <a:solidFill>
                  <a:srgbClr val="007E87"/>
                </a:solidFill>
                <a:latin typeface="DejaVu Sans"/>
                <a:ea typeface="DejaVu Sans"/>
                <a:cs typeface="DejaVu Sans"/>
              </a:defRPr>
            </a:pPr>
            <a:r>
              <a:rPr sz="1350" b="1">
                <a:solidFill>
                  <a:srgbClr val="007E87"/>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B40061F0-1CD6-4D22-BD55-71BA87429F80}"/>
              </a:ext>
            </a:extLst>
          </p:cNvPr>
          <p:cNvSpPr>
            <a:spLocks xmlns:a="http://schemas.openxmlformats.org/drawingml/2006/main" noGrp="1"/>
          </p:cNvSpPr>
          <p:nvPr/>
        </p:nvSpPr>
        <p:spPr>
          <a:xfrm xmlns:a="http://schemas.openxmlformats.org/drawingml/2006/main">
            <a:off x="609600" y="17430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E87"/>
                </a:solidFill>
                <a:latin typeface="DejaVu Sans"/>
                <a:ea typeface="DejaVu Sans"/>
                <a:cs typeface="DejaVu Sans"/>
              </a:defRPr>
            </a:defPPr>
          </a:lstStyle>
          <a:p xmlns:a="http://schemas.openxmlformats.org/drawingml/2006/main">
            <a:pPr>
              <a:defRPr sz="2175" b="1">
                <a:solidFill>
                  <a:srgbClr val="007E87"/>
                </a:solidFill>
                <a:latin typeface="DejaVu Sans"/>
                <a:ea typeface="DejaVu Sans"/>
                <a:cs typeface="DejaVu Sans"/>
              </a:defRPr>
            </a:pPr>
            <a:r>
              <a:rPr sz="2175" b="1">
                <a:solidFill>
                  <a:srgbClr val="007E87"/>
                </a:solidFill>
                <a:latin typeface="DejaVu Sans"/>
                <a:ea typeface="DejaVu Sans"/>
                <a:cs typeface="DejaVu Sans"/>
              </a:rPr>
              <a:t>Logros observados</a:t>
            </a:r>
          </a:p>
        </p:txBody>
      </p:sp>
      <p:sp>
        <p:nvSpPr>
          <p:cNvPr id="5" name="">
            <a:extLst xmlns:a="http://schemas.openxmlformats.org/drawingml/2006/main">
              <a:ext uri="{FF2B5EF4-FFF2-40B4-BE49-F238E27FC236}">
                <a16:creationId xmlns:a16="http://schemas.microsoft.com/office/drawing/2014/main" id="{FE84C0FD-2689-480A-A99F-9F33DD7C4103}"/>
              </a:ext>
            </a:extLst>
          </p:cNvPr>
          <p:cNvSpPr>
            <a:spLocks xmlns:a="http://schemas.openxmlformats.org/drawingml/2006/main" noGrp="1"/>
          </p:cNvSpPr>
          <p:nvPr/>
        </p:nvSpPr>
        <p:spPr>
          <a:xfrm xmlns:a="http://schemas.openxmlformats.org/drawingml/2006/main">
            <a:off x="609600" y="238125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2304B"/>
                </a:solidFill>
                <a:latin typeface="DejaVu Sans"/>
                <a:ea typeface="DejaVu Sans"/>
                <a:cs typeface="DejaVu Sans"/>
              </a:defRPr>
            </a:defPPr>
          </a:lstStyle>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PIB real: +15,7% acumulado.</a:t>
            </a:r>
          </a:p>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Déficit: de 3,0% a 1,0% del PIB.</a:t>
            </a:r>
          </a:p>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Deuda/PIB: de 60,0% a 53,4%.</a:t>
            </a:r>
          </a:p>
        </p:txBody>
      </p:sp>
      <p:sp>
        <p:nvSpPr>
          <p:cNvPr id="6" name="">
            <a:extLst xmlns:a="http://schemas.openxmlformats.org/drawingml/2006/main">
              <a:ext uri="{FF2B5EF4-FFF2-40B4-BE49-F238E27FC236}">
                <a16:creationId xmlns:a16="http://schemas.microsoft.com/office/drawing/2014/main" id="{5B9E09FF-3F46-41AA-93C1-924836413386}"/>
              </a:ext>
            </a:extLst>
          </p:cNvPr>
          <p:cNvSpPr>
            <a:spLocks xmlns:a="http://schemas.openxmlformats.org/drawingml/2006/main" noGrp="1"/>
          </p:cNvSpPr>
          <p:nvPr/>
        </p:nvSpPr>
        <p:spPr>
          <a:xfrm xmlns:a="http://schemas.openxmlformats.org/drawingml/2006/main">
            <a:off x="6496050" y="17430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2304B"/>
                </a:solidFill>
                <a:latin typeface="DejaVu Sans"/>
                <a:ea typeface="DejaVu Sans"/>
                <a:cs typeface="DejaVu Sans"/>
              </a:defRPr>
            </a:defPPr>
          </a:lstStyle>
          <a:p xmlns:a="http://schemas.openxmlformats.org/drawingml/2006/main">
            <a:pPr>
              <a:defRPr sz="2175" b="1">
                <a:solidFill>
                  <a:srgbClr val="12304B"/>
                </a:solidFill>
                <a:latin typeface="DejaVu Sans"/>
                <a:ea typeface="DejaVu Sans"/>
                <a:cs typeface="DejaVu Sans"/>
              </a:defRPr>
            </a:pPr>
            <a:r>
              <a:rPr sz="2175" b="1">
                <a:solidFill>
                  <a:srgbClr val="12304B"/>
                </a:solidFill>
                <a:latin typeface="DejaVu Sans"/>
                <a:ea typeface="DejaVu Sans"/>
                <a:cs typeface="DejaVu Sans"/>
              </a:rPr>
              <a:t>Problemas pendientes</a:t>
            </a:r>
          </a:p>
        </p:txBody>
      </p:sp>
      <p:sp>
        <p:nvSpPr>
          <p:cNvPr id="7" name="">
            <a:extLst xmlns:a="http://schemas.openxmlformats.org/drawingml/2006/main">
              <a:ext uri="{FF2B5EF4-FFF2-40B4-BE49-F238E27FC236}">
                <a16:creationId xmlns:a16="http://schemas.microsoft.com/office/drawing/2014/main" id="{B85585E0-A8ED-4EF9-92D0-91A2B765542C}"/>
              </a:ext>
            </a:extLst>
          </p:cNvPr>
          <p:cNvSpPr>
            <a:spLocks xmlns:a="http://schemas.openxmlformats.org/drawingml/2006/main" noGrp="1"/>
          </p:cNvSpPr>
          <p:nvPr/>
        </p:nvSpPr>
        <p:spPr>
          <a:xfrm xmlns:a="http://schemas.openxmlformats.org/drawingml/2006/main">
            <a:off x="6496050" y="2381250"/>
            <a:ext cx="509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2304B"/>
                </a:solidFill>
                <a:latin typeface="DejaVu Sans"/>
                <a:ea typeface="DejaVu Sans"/>
                <a:cs typeface="DejaVu Sans"/>
              </a:defRPr>
            </a:defPPr>
          </a:lstStyle>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Crecimiento final de 0,7%.</a:t>
            </a:r>
          </a:p>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Desempleo final de 5,2%.</a:t>
            </a:r>
          </a:p>
          <a:p xmlns:a="http://schemas.openxmlformats.org/drawingml/2006/main">
            <a:pPr>
              <a:defRPr sz="2100" b="0">
                <a:solidFill>
                  <a:srgbClr val="12304B"/>
                </a:solidFill>
                <a:latin typeface="DejaVu Sans"/>
                <a:ea typeface="DejaVu Sans"/>
                <a:cs typeface="DejaVu Sans"/>
              </a:defRPr>
            </a:pPr>
            <a:r>
              <a:rPr sz="2100" b="0">
                <a:solidFill>
                  <a:srgbClr val="12304B"/>
                </a:solidFill>
                <a:latin typeface="DejaVu Sans"/>
                <a:ea typeface="DejaVu Sans"/>
                <a:cs typeface="DejaVu Sans"/>
              </a:rPr>
              <a:t>Déficit externo de 2,1% del PIB.</a:t>
            </a:r>
          </a:p>
        </p:txBody>
      </p:sp>
      <p:sp>
        <p:nvSpPr>
          <p:cNvPr id="8" name="">
            <a:extLst xmlns:a="http://schemas.openxmlformats.org/drawingml/2006/main">
              <a:ext uri="{FF2B5EF4-FFF2-40B4-BE49-F238E27FC236}">
                <a16:creationId xmlns:a16="http://schemas.microsoft.com/office/drawing/2014/main" id="{B9A14374-AD7E-4192-8802-3BC5C8C62277}"/>
              </a:ext>
            </a:extLst>
          </p:cNvPr>
          <p:cNvSpPr>
            <a:spLocks xmlns:a="http://schemas.openxmlformats.org/drawingml/2006/main" noGrp="1"/>
          </p:cNvSpPr>
          <p:nvPr/>
        </p:nvSpPr>
        <p:spPr>
          <a:xfrm xmlns:a="http://schemas.openxmlformats.org/drawingml/2006/main">
            <a:off x="609600" y="42481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07E87"/>
                </a:solidFill>
                <a:latin typeface="DejaVu Sans"/>
                <a:ea typeface="DejaVu Sans"/>
                <a:cs typeface="DejaVu Sans"/>
              </a:defRPr>
            </a:defPPr>
          </a:lstStyle>
          <a:p xmlns:a="http://schemas.openxmlformats.org/drawingml/2006/main">
            <a:pPr>
              <a:defRPr sz="2100" b="1">
                <a:solidFill>
                  <a:srgbClr val="007E87"/>
                </a:solidFill>
                <a:latin typeface="DejaVu Sans"/>
                <a:ea typeface="DejaVu Sans"/>
                <a:cs typeface="DejaVu Sans"/>
              </a:defRPr>
            </a:pPr>
            <a:r>
              <a:rPr sz="2100" b="1">
                <a:solidFill>
                  <a:srgbClr val="007E87"/>
                </a:solidFill>
                <a:latin typeface="DejaVu Sans"/>
                <a:ea typeface="DejaVu Sans"/>
                <a:cs typeface="DejaVu Sans"/>
              </a:rPr>
              <a:t>Prioridades</a:t>
            </a:r>
          </a:p>
        </p:txBody>
      </p:sp>
      <p:sp>
        <p:nvSpPr>
          <p:cNvPr id="9" name="">
            <a:extLst xmlns:a="http://schemas.openxmlformats.org/drawingml/2006/main">
              <a:ext uri="{FF2B5EF4-FFF2-40B4-BE49-F238E27FC236}">
                <a16:creationId xmlns:a16="http://schemas.microsoft.com/office/drawing/2014/main" id="{E75AD0AF-D6F8-43B6-9AB0-5B35075D5643}"/>
              </a:ext>
            </a:extLst>
          </p:cNvPr>
          <p:cNvSpPr>
            <a:spLocks xmlns:a="http://schemas.openxmlformats.org/drawingml/2006/main" noGrp="1"/>
          </p:cNvSpPr>
          <p:nvPr/>
        </p:nvSpPr>
        <p:spPr>
          <a:xfrm xmlns:a="http://schemas.openxmlformats.org/drawingml/2006/main">
            <a:off x="609600" y="48101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2304B"/>
                </a:solidFill>
                <a:latin typeface="DejaVu Sans"/>
                <a:ea typeface="DejaVu Sans"/>
                <a:cs typeface="DejaVu Sans"/>
              </a:defRPr>
            </a:defPPr>
          </a:lstStyle>
          <a:p xmlns:a="http://schemas.openxmlformats.org/drawingml/2006/main">
            <a:pPr>
              <a:defRPr sz="1950" b="0">
                <a:solidFill>
                  <a:srgbClr val="12304B"/>
                </a:solidFill>
                <a:latin typeface="DejaVu Sans"/>
                <a:ea typeface="DejaVu Sans"/>
                <a:cs typeface="DejaVu Sans"/>
              </a:defRPr>
            </a:pPr>
            <a:r>
              <a:rPr sz="1950" b="0">
                <a:solidFill>
                  <a:srgbClr val="12304B"/>
                </a:solidFill>
                <a:latin typeface="DejaVu Sans"/>
                <a:ea typeface="DejaVu Sans"/>
                <a:cs typeface="DejaVu Sans"/>
              </a:rPr>
              <a:t>Productividad y empleo. Disciplina fiscal. Seguimiento de precios y comercio.</a:t>
            </a:r>
          </a:p>
        </p:txBody>
      </p:sp>
      <p:sp>
        <p:nvSpPr>
          <p:cNvPr id="10" name="">
            <a:extLst xmlns:a="http://schemas.openxmlformats.org/drawingml/2006/main">
              <a:ext uri="{FF2B5EF4-FFF2-40B4-BE49-F238E27FC236}">
                <a16:creationId xmlns:a16="http://schemas.microsoft.com/office/drawing/2014/main" id="{8F044680-AD2F-4BB1-AE3F-D1D3C0C0BB6C}"/>
              </a:ext>
            </a:extLst>
          </p:cNvPr>
          <p:cNvSpPr>
            <a:spLocks xmlns:a="http://schemas.openxmlformats.org/drawingml/2006/main" noGrp="1"/>
          </p:cNvSpPr>
          <p:nvPr/>
        </p:nvSpPr>
        <p:spPr>
          <a:xfrm xmlns:a="http://schemas.openxmlformats.org/drawingml/2006/main">
            <a:off x="609600" y="56673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2304B"/>
                </a:solidFill>
                <a:latin typeface="DejaVu Sans"/>
                <a:ea typeface="DejaVu Sans"/>
                <a:cs typeface="DejaVu Sans"/>
              </a:defRPr>
            </a:defPPr>
          </a:lstStyle>
          <a:p xmlns:a="http://schemas.openxmlformats.org/drawingml/2006/main">
            <a:pPr>
              <a:defRPr sz="2175" b="1">
                <a:solidFill>
                  <a:srgbClr val="12304B"/>
                </a:solidFill>
                <a:latin typeface="DejaVu Sans"/>
                <a:ea typeface="DejaVu Sans"/>
                <a:cs typeface="DejaVu Sans"/>
              </a:defRPr>
            </a:pPr>
            <a:r>
              <a:rPr sz="2175" b="1">
                <a:solidFill>
                  <a:srgbClr val="12304B"/>
                </a:solidFill>
                <a:latin typeface="DejaVu Sans"/>
                <a:ea typeface="DejaVu Sans"/>
                <a:cs typeface="DejaVu Sans"/>
              </a:rPr>
              <a:t>La mejora fiscal relativa no resolvió la debilidad del crecimiento ni del empleo.</a:t>
            </a:r>
          </a:p>
        </p:txBody>
      </p:sp>
    </p:spTree>
    <p:extLst>
      <p:ext uri="{BB962C8B-B14F-4D97-AF65-F5344CB8AC3E}">
        <p14:creationId xmlns:p14="http://schemas.microsoft.com/office/powerpoint/2010/main" val="1708901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2026-10-10T13:46:46.0300000Z</dcterms:created>
  <dcterms:modified xsi:type="dcterms:W3CDTF">2026-10-10T13:46:46.0300000Z</dcterms:modified>
</coreProperties>
</file>