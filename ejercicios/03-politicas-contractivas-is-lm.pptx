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IS-LM-BP · ECONOMÍA ABIERTA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partida: el equilibrio inicial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704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abierta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84248" y="1170432"/>
            <a:ext cx="2670048" cy="310896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 w="6350">
            <a:solidFill>
              <a:srgbClr val="E3EF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84248" y="117043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mercados en equilibrio a la vez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91456" y="1170432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FBE3CF"/>
          </a:solidFill>
          <a:ln w="6350">
            <a:solidFill>
              <a:srgbClr val="FBE3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91456" y="117043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Curvas: IS, LM y BP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10528" y="1170432"/>
            <a:ext cx="3758184" cy="310896"/>
          </a:xfrm>
          <a:prstGeom prst="roundRect">
            <a:avLst>
              <a:gd name="adj" fmla="val 50000"/>
            </a:avLst>
          </a:prstGeom>
          <a:solidFill>
            <a:srgbClr val="ECE6F4"/>
          </a:solidFill>
          <a:ln w="6350">
            <a:solidFill>
              <a:srgbClr val="ECE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170432"/>
            <a:ext cx="3758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BP₀ horizontal; se inclina cuando cambian X y M (BP₁)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BP: arranca horizontal en i*. Si suben las importaciones o bajan las exportaciones, se necesita una tasa mayor para atraer dólares (BP sube e inclina); al revés, baja.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4922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9525">
            <a:solidFill>
              <a:srgbClr val="DDDC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· mercado de bienes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1671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de tasa de interés (i) y producción (Y) donde la demanda (C + I + G + XN) es igual a la producción. Pendiente negativa: si i baja, sube la inversión y sube 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· mercado de dinero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2644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donde la oferta real de dinero (M/P) es igual a la demanda de dinero. Pendiente positiva: si Y sube, se pide más dinero y sube i.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· balanza de pagos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3616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donde entradas y salidas de dólares se equilibran. Al inicio es horizontal en i = i* (sin pendiente). Cuando cambian exportaciones (X) e importaciones (M), se inclina y se desplaza: más M la sube, más X la baja.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166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 · equilibrio inicial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45896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curvas se cruzan en un solo punto: equilibrio interno y externo con producción Y₀ y tasa de interés i*.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1691640"/>
            <a:ext cx="5971032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9525">
            <a:solidFill>
              <a:srgbClr val="DDDC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IS-LM-BP inicial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 flipV="1">
            <a:off x="6377940" y="2407958"/>
            <a:ext cx="914" cy="2687393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77940" y="5095351"/>
            <a:ext cx="4915814" cy="91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86216" y="3951780"/>
            <a:ext cx="914" cy="1143572"/>
          </a:xfrm>
          <a:prstGeom prst="line">
            <a:avLst/>
          </a:prstGeom>
          <a:noFill/>
          <a:ln w="15875">
            <a:solidFill>
              <a:srgbClr val="8A93A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377940" y="3951780"/>
            <a:ext cx="4704588" cy="914"/>
          </a:xfrm>
          <a:prstGeom prst="line">
            <a:avLst/>
          </a:prstGeom>
          <a:noFill/>
          <a:ln w="31750">
            <a:solidFill>
              <a:srgbClr val="6B4C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50024" y="2712911"/>
            <a:ext cx="2957170" cy="2382441"/>
          </a:xfrm>
          <a:prstGeom prst="line">
            <a:avLst/>
          </a:prstGeom>
          <a:noFill/>
          <a:ln w="25400">
            <a:solidFill>
              <a:srgbClr val="1F7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866126" y="2712911"/>
            <a:ext cx="1497787" cy="2382441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6551" y="3892115"/>
            <a:ext cx="119329" cy="119329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09106" y="2312660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75" dirty="0"/>
          </a:p>
        </p:txBody>
      </p:sp>
      <p:sp>
        <p:nvSpPr>
          <p:cNvPr id="33" name="Text 31"/>
          <p:cNvSpPr txBox="1"/>
          <p:nvPr/>
        </p:nvSpPr>
        <p:spPr>
          <a:xfrm>
            <a:off x="11159338" y="5019113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75" dirty="0"/>
          </a:p>
        </p:txBody>
      </p:sp>
      <p:sp>
        <p:nvSpPr>
          <p:cNvPr id="34" name="Text 32"/>
          <p:cNvSpPr txBox="1"/>
          <p:nvPr/>
        </p:nvSpPr>
        <p:spPr>
          <a:xfrm>
            <a:off x="6032297" y="3856482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</a:t>
            </a:r>
            <a:endParaRPr lang="en-US" sz="1375" dirty="0"/>
          </a:p>
        </p:txBody>
      </p:sp>
      <p:sp>
        <p:nvSpPr>
          <p:cNvPr id="35" name="Text 33"/>
          <p:cNvSpPr txBox="1"/>
          <p:nvPr/>
        </p:nvSpPr>
        <p:spPr>
          <a:xfrm>
            <a:off x="10045598" y="4771339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375" dirty="0"/>
          </a:p>
        </p:txBody>
      </p:sp>
      <p:sp>
        <p:nvSpPr>
          <p:cNvPr id="36" name="Text 34"/>
          <p:cNvSpPr txBox="1"/>
          <p:nvPr/>
        </p:nvSpPr>
        <p:spPr>
          <a:xfrm>
            <a:off x="9411919" y="2484196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1375" dirty="0"/>
          </a:p>
        </p:txBody>
      </p:sp>
      <p:sp>
        <p:nvSpPr>
          <p:cNvPr id="37" name="Text 35"/>
          <p:cNvSpPr txBox="1"/>
          <p:nvPr/>
        </p:nvSpPr>
        <p:spPr>
          <a:xfrm>
            <a:off x="10813694" y="3704006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375" dirty="0"/>
          </a:p>
        </p:txBody>
      </p:sp>
      <p:sp>
        <p:nvSpPr>
          <p:cNvPr id="38" name="Text 36"/>
          <p:cNvSpPr txBox="1"/>
          <p:nvPr/>
        </p:nvSpPr>
        <p:spPr>
          <a:xfrm>
            <a:off x="8701430" y="3627768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</a:t>
            </a:r>
            <a:endParaRPr lang="en-US" sz="1375" dirty="0"/>
          </a:p>
        </p:txBody>
      </p:sp>
      <p:sp>
        <p:nvSpPr>
          <p:cNvPr id="39" name="Text 37"/>
          <p:cNvSpPr txBox="1"/>
          <p:nvPr/>
        </p:nvSpPr>
        <p:spPr>
          <a:xfrm>
            <a:off x="8471002" y="5133470"/>
            <a:ext cx="49926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5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Y₀</a:t>
            </a:r>
            <a:endParaRPr lang="en-US" sz="13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IS-LM-BP · ECONOMÍA ABIERTA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monetaria contractiva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70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Monetaria Contractiva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1170432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 w="6350">
            <a:solidFill>
              <a:srgbClr val="E3EF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0360" y="11704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Instrumento: oferta monetaria ↓, M/P 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15584" y="1170432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FBE3CF"/>
          </a:solidFill>
          <a:ln w="6350">
            <a:solidFill>
              <a:srgbClr val="FBE3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15584" y="11704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LM → izquierda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62672" y="1170432"/>
            <a:ext cx="3758184" cy="310896"/>
          </a:xfrm>
          <a:prstGeom prst="roundRect">
            <a:avLst>
              <a:gd name="adj" fmla="val 50000"/>
            </a:avLst>
          </a:prstGeom>
          <a:solidFill>
            <a:srgbClr val="ECE6F4"/>
          </a:solidFill>
          <a:ln w="6350">
            <a:solidFill>
              <a:srgbClr val="ECE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62672" y="1170432"/>
            <a:ext cx="3758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BP₀ horizontal; se inclina cuando cambian X y M (BP₁)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BP: arranca horizontal en i*. Si suben las importaciones o bajan las exportaciones, se necesita una tasa mayor para atraer dólares (BP sube e inclina); al revés, baja.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4922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1127455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DC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177393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Tipo de cambio fijo · </a:t>
            </a:r>
            <a:pPr indent="0" marL="0">
              <a:buNone/>
            </a:pPr>
            <a:r>
              <a:rPr lang="en-US" sz="1500" b="1" dirty="0">
                <a:solidFill>
                  <a:srgbClr val="C8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inefectiva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121408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Contracción: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Central reduce la oferta monetaria (M/P ↓).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LM → izquierda (LM₁):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sube sobre i* y la producción baja (punto A).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Comercio: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menos Y bajan las importaciones (M ↓): la BP gira sobre E₀ (BP₁).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Capitales: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&gt; i* → entran dólares, BP en superávit; la moneda tiende a apreciarse.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Defensa del tipo de cambio: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BC compra dólares y emite moneda (reservas ↑, M/P ↑).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LM regresa (LM₂ = LM₀):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monetaria vuelve a su nivel inicial.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47872"/>
            <a:ext cx="6858000" cy="310896"/>
          </a:xfrm>
          <a:prstGeom prst="rect">
            <a:avLst/>
          </a:prstGeom>
          <a:solidFill>
            <a:srgbClr val="E6E4DE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i, X y M vuelven a E₀; lo único que cambia son las reservas.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8057756" y="1826514"/>
            <a:ext cx="914" cy="185337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57756" y="3679888"/>
            <a:ext cx="3390217" cy="91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57756" y="2891219"/>
            <a:ext cx="3244543" cy="914"/>
          </a:xfrm>
          <a:prstGeom prst="line">
            <a:avLst/>
          </a:prstGeom>
          <a:noFill/>
          <a:ln w="31750">
            <a:solidFill>
              <a:srgbClr val="6B4C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057756" y="2036826"/>
            <a:ext cx="3244543" cy="1610201"/>
          </a:xfrm>
          <a:prstGeom prst="line">
            <a:avLst/>
          </a:prstGeom>
          <a:noFill/>
          <a:ln w="25400">
            <a:solidFill>
              <a:srgbClr val="6B4C9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521262" y="2036826"/>
            <a:ext cx="2039427" cy="1643062"/>
          </a:xfrm>
          <a:prstGeom prst="line">
            <a:avLst/>
          </a:prstGeom>
          <a:noFill/>
          <a:ln w="25400">
            <a:solidFill>
              <a:srgbClr val="1F7A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084091" y="2036826"/>
            <a:ext cx="1032957" cy="1643062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8686800" y="2036826"/>
            <a:ext cx="1032957" cy="1643062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H="1">
            <a:off x="8918553" y="3416998"/>
            <a:ext cx="297968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07191" y="2299716"/>
            <a:ext cx="291347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55047" y="2943797"/>
            <a:ext cx="914" cy="446913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79268" y="2644331"/>
            <a:ext cx="73152" cy="73152"/>
          </a:xfrm>
          <a:prstGeom prst="ellipse">
            <a:avLst/>
          </a:prstGeom>
          <a:solidFill>
            <a:srgbClr val="C8641E"/>
          </a:solidFill>
          <a:ln w="6350">
            <a:solidFill>
              <a:srgbClr val="C864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9557" y="2850071"/>
            <a:ext cx="82296" cy="82296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72353" y="176079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355271" y="3627311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19381" y="2825496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587175" y="345643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150155" y="1879092"/>
            <a:ext cx="7283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LM₀ = LM₂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315844" y="1773936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LM₁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16897" y="272034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BP₀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037439" y="1852803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BP₁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660163" y="2930652"/>
            <a:ext cx="5959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 = E₂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077470" y="245745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1127455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DC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424281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Tipo de cambio flexible · </a:t>
            </a:r>
            <a:pPr indent="0" marL="0">
              <a:buNone/>
            </a:pPr>
            <a:r>
              <a:rPr lang="en-US" sz="15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efectiva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4590288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Contracción: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Central reduce la oferta monetaria (M/P ↓).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LM → izquierda (LM₁):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sube sobre i* y la producción baja (punto A).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Capitales: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dólares → la moneda nacional se aprecia (el dólar se abarata).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Comercio: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 ↓ e importaciones ↑ → exportaciones netas ↓.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IS → izquierda (IS₁):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la demanda por bienes nacionales.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BP sube e inclina (BP₁):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importaciones hace falta una i mayor para atraer dólares.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016752"/>
            <a:ext cx="6858000" cy="310896"/>
          </a:xfrm>
          <a:prstGeom prst="rect">
            <a:avLst/>
          </a:prstGeom>
          <a:solidFill>
            <a:srgbClr val="E6E4DE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con la producción mucho menor y la tasa de interés algo mayor que i*.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 flipV="1">
            <a:off x="8057756" y="4295394"/>
            <a:ext cx="914" cy="185337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057756" y="6148768"/>
            <a:ext cx="3390217" cy="91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057756" y="5360099"/>
            <a:ext cx="3244543" cy="914"/>
          </a:xfrm>
          <a:prstGeom prst="line">
            <a:avLst/>
          </a:prstGeom>
          <a:noFill/>
          <a:ln w="31750">
            <a:solidFill>
              <a:srgbClr val="6B4C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8322617" y="4499134"/>
            <a:ext cx="2449961" cy="1215866"/>
          </a:xfrm>
          <a:prstGeom prst="line">
            <a:avLst/>
          </a:prstGeom>
          <a:noFill/>
          <a:ln w="25400">
            <a:solidFill>
              <a:srgbClr val="6B4C9A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8521262" y="4505706"/>
            <a:ext cx="2039427" cy="1643063"/>
          </a:xfrm>
          <a:prstGeom prst="line">
            <a:avLst/>
          </a:prstGeom>
          <a:noFill/>
          <a:ln w="25400">
            <a:solidFill>
              <a:srgbClr val="1F7A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2617" y="4505706"/>
            <a:ext cx="2039427" cy="1643063"/>
          </a:xfrm>
          <a:prstGeom prst="line">
            <a:avLst/>
          </a:prstGeom>
          <a:noFill/>
          <a:ln w="25400">
            <a:solidFill>
              <a:srgbClr val="1F7A7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9084091" y="4505706"/>
            <a:ext cx="1032957" cy="1643063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686800" y="4505706"/>
            <a:ext cx="1032957" cy="1643063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H="1">
            <a:off x="8918553" y="5885879"/>
            <a:ext cx="297968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>
            <a:off x="9885295" y="5754434"/>
            <a:ext cx="172159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10507717" y="4716018"/>
            <a:ext cx="914" cy="604647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539557" y="5318951"/>
            <a:ext cx="82296" cy="82296"/>
          </a:xfrm>
          <a:prstGeom prst="ellipse">
            <a:avLst/>
          </a:prstGeom>
          <a:solidFill>
            <a:srgbClr val="8A93A0"/>
          </a:solidFill>
          <a:ln w="6350">
            <a:solidFill>
              <a:srgbClr val="8A93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79268" y="5113211"/>
            <a:ext cx="73152" cy="73152"/>
          </a:xfrm>
          <a:prstGeom prst="ellipse">
            <a:avLst/>
          </a:prstGeom>
          <a:solidFill>
            <a:srgbClr val="C8641E"/>
          </a:solidFill>
          <a:ln w="6350">
            <a:solidFill>
              <a:srgbClr val="C8641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08481" y="5213794"/>
            <a:ext cx="82296" cy="82296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872353" y="4229671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1355271" y="609619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7819381" y="5294376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10587175" y="592531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IS₀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388832" y="428225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IS₁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10150155" y="434797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LM₀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315844" y="4242816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LM₁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11116897" y="518922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BP₀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10812307" y="4321683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BP₁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9660163" y="539953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9077470" y="492633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8945039" y="5228654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IS-LM-BP · ECONOMÍA ABIERTA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fiscal contractiva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704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Fiscal Contractiva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88336" y="1170432"/>
            <a:ext cx="3054096" cy="310896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 w="6350">
            <a:solidFill>
              <a:srgbClr val="E3EF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88336" y="117043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Instrumento: gasto público ↓ o impuestos 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79592" y="1170432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FBE3CF"/>
          </a:solidFill>
          <a:ln w="6350">
            <a:solidFill>
              <a:srgbClr val="FBE3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79592" y="11704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IS → izquierda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26680" y="1170432"/>
            <a:ext cx="3758184" cy="310896"/>
          </a:xfrm>
          <a:prstGeom prst="roundRect">
            <a:avLst>
              <a:gd name="adj" fmla="val 50000"/>
            </a:avLst>
          </a:prstGeom>
          <a:solidFill>
            <a:srgbClr val="ECE6F4"/>
          </a:solidFill>
          <a:ln w="6350">
            <a:solidFill>
              <a:srgbClr val="ECE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170432"/>
            <a:ext cx="3758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BP₀ horizontal; se inclina cuando cambian X y M (BP₁)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BP: arranca horizontal en i*. Si suben las importaciones o bajan las exportaciones, se necesita una tasa mayor para atraer dólares (BP sube e inclina); al revés, baja.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4922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1127455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DC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177393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Tipo de cambio fijo · </a:t>
            </a:r>
            <a:pPr indent="0" marL="0">
              <a:buNone/>
            </a:pPr>
            <a:r>
              <a:rPr lang="en-US" sz="15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efectiva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121408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Contracción: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baja el gasto (G ↓) o sube impuestos (T ↑).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→ izquierda (IS₁):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la demanda: Y ↓ e i baja bajo i* (punto A).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Capitales: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 i* → salen dólares; la moneda tiende a depreciarse.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Defensa del tipo de cambio: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BC vende dólares y retira moneda (reservas ↓, M/P ↓).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LM → izquierda (LM₁):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menor cantidad de dinero amplifica la caída de Y.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Comercio: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menos Y bajan las importaciones (M ↓): la BP gira sobre E₀ (BP₁).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47872"/>
            <a:ext cx="6858000" cy="310896"/>
          </a:xfrm>
          <a:prstGeom prst="rect">
            <a:avLst/>
          </a:prstGeom>
          <a:solidFill>
            <a:srgbClr val="E6E4DE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sobre BP₁: la producción cae mucho y la tasa queda un poco bajo i*.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8057756" y="1826514"/>
            <a:ext cx="914" cy="185337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57756" y="3679888"/>
            <a:ext cx="3390217" cy="91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57756" y="2891219"/>
            <a:ext cx="3244543" cy="914"/>
          </a:xfrm>
          <a:prstGeom prst="line">
            <a:avLst/>
          </a:prstGeom>
          <a:noFill/>
          <a:ln w="31750">
            <a:solidFill>
              <a:srgbClr val="6B4C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057756" y="2036826"/>
            <a:ext cx="3244543" cy="1610201"/>
          </a:xfrm>
          <a:prstGeom prst="line">
            <a:avLst/>
          </a:prstGeom>
          <a:noFill/>
          <a:ln w="25400">
            <a:solidFill>
              <a:srgbClr val="6B4C9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521262" y="2036826"/>
            <a:ext cx="2039427" cy="1643062"/>
          </a:xfrm>
          <a:prstGeom prst="line">
            <a:avLst/>
          </a:prstGeom>
          <a:noFill/>
          <a:ln w="25400">
            <a:solidFill>
              <a:srgbClr val="1F7A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3971" y="2036826"/>
            <a:ext cx="2039427" cy="1643062"/>
          </a:xfrm>
          <a:prstGeom prst="line">
            <a:avLst/>
          </a:prstGeom>
          <a:noFill/>
          <a:ln w="25400">
            <a:solidFill>
              <a:srgbClr val="1F7A7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9084091" y="2036826"/>
            <a:ext cx="1032957" cy="1643062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8918553" y="2036826"/>
            <a:ext cx="1032957" cy="1643062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H="1">
            <a:off x="9898538" y="3416998"/>
            <a:ext cx="291347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9726378" y="2431161"/>
            <a:ext cx="145673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55047" y="2943797"/>
            <a:ext cx="914" cy="446913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39557" y="2850071"/>
            <a:ext cx="82296" cy="82296"/>
          </a:xfrm>
          <a:prstGeom prst="ellipse">
            <a:avLst/>
          </a:prstGeom>
          <a:solidFill>
            <a:srgbClr val="8A93A0"/>
          </a:solidFill>
          <a:ln w="6350">
            <a:solidFill>
              <a:srgbClr val="8A93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1698" y="3064954"/>
            <a:ext cx="73152" cy="73152"/>
          </a:xfrm>
          <a:prstGeom prst="ellipse">
            <a:avLst/>
          </a:prstGeom>
          <a:solidFill>
            <a:srgbClr val="C8641E"/>
          </a:solidFill>
          <a:ln w="6350">
            <a:solidFill>
              <a:srgbClr val="C864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94561" y="2974943"/>
            <a:ext cx="82296" cy="82296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72353" y="176079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355271" y="3627311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19381" y="2825496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587175" y="345643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IS₀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190186" y="1800225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IS₁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150155" y="187909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LM₀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607191" y="1773936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LM₁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116897" y="272034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BP₀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037439" y="1852803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BP₁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660163" y="266776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501247" y="312782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037740" y="3009519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114800"/>
            <a:ext cx="1127455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DC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424281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Tipo de cambio flexible · </a:t>
            </a:r>
            <a:pPr indent="0" marL="0">
              <a:buNone/>
            </a:pPr>
            <a:r>
              <a:rPr lang="en-US" sz="1500" b="1" dirty="0">
                <a:solidFill>
                  <a:srgbClr val="C8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efectiva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4590288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Contracción: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baja el gasto (G ↓) o sube impuestos (T ↑).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→ izquierda (IS₁):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↓ e i baja bajo i* (punto A).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Capitales: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 dólares → la moneda nacional se deprecia (el dólar sube).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Comercio: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 ↑ e importaciones ↓ → exportaciones netas ↑.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IS → derecha (IS₂):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exportaciones netas recuperan casi toda la demanda.</a:t>
            </a:r>
            <a:endParaRPr lang="en-US" sz="12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BP baja e inclina (BP₁): </a:t>
            </a:r>
            <a:pPr indent="0" marL="0">
              <a:spcAft>
                <a:spcPts val="150"/>
              </a:spcAft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mejor balanza comercial basta una tasa menor.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016752"/>
            <a:ext cx="6858000" cy="310896"/>
          </a:xfrm>
          <a:prstGeom prst="rect">
            <a:avLst/>
          </a:prstGeom>
          <a:solidFill>
            <a:srgbClr val="E6E4DE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con la producción apenas menor que Y₀: la depreciación compensa casi todo el recorte.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 flipV="1">
            <a:off x="8057756" y="4295394"/>
            <a:ext cx="914" cy="185337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057756" y="6148768"/>
            <a:ext cx="3390217" cy="914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057756" y="5360099"/>
            <a:ext cx="3244543" cy="914"/>
          </a:xfrm>
          <a:prstGeom prst="line">
            <a:avLst/>
          </a:prstGeom>
          <a:noFill/>
          <a:ln w="31750">
            <a:solidFill>
              <a:srgbClr val="6B4C9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163700" y="4591145"/>
            <a:ext cx="3138599" cy="1557623"/>
          </a:xfrm>
          <a:prstGeom prst="line">
            <a:avLst/>
          </a:prstGeom>
          <a:noFill/>
          <a:ln w="25400">
            <a:solidFill>
              <a:srgbClr val="6B4C9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8521262" y="4505706"/>
            <a:ext cx="2039427" cy="1643063"/>
          </a:xfrm>
          <a:prstGeom prst="line">
            <a:avLst/>
          </a:prstGeom>
          <a:noFill/>
          <a:ln w="25400">
            <a:solidFill>
              <a:srgbClr val="1F7A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23971" y="4505706"/>
            <a:ext cx="2039427" cy="1643063"/>
          </a:xfrm>
          <a:prstGeom prst="line">
            <a:avLst/>
          </a:prstGeom>
          <a:noFill/>
          <a:ln w="25400">
            <a:solidFill>
              <a:srgbClr val="1F7A7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8289509" y="4505706"/>
            <a:ext cx="2032806" cy="1643063"/>
          </a:xfrm>
          <a:prstGeom prst="line">
            <a:avLst/>
          </a:prstGeom>
          <a:noFill/>
          <a:ln w="31750">
            <a:solidFill>
              <a:srgbClr val="1F7A7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V="1">
            <a:off x="9084091" y="4505706"/>
            <a:ext cx="1032957" cy="1643063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9898538" y="5885879"/>
            <a:ext cx="291347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693422" y="4965763"/>
            <a:ext cx="198646" cy="91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521262" y="5412677"/>
            <a:ext cx="914" cy="420624"/>
          </a:xfrm>
          <a:prstGeom prst="line">
            <a:avLst/>
          </a:prstGeom>
          <a:noFill/>
          <a:ln w="25400">
            <a:solidFill>
              <a:srgbClr val="C8641E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539557" y="5318951"/>
            <a:ext cx="82296" cy="82296"/>
          </a:xfrm>
          <a:prstGeom prst="ellipse">
            <a:avLst/>
          </a:prstGeom>
          <a:solidFill>
            <a:srgbClr val="8A93A0"/>
          </a:solidFill>
          <a:ln w="6350">
            <a:solidFill>
              <a:srgbClr val="8A93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11698" y="5533835"/>
            <a:ext cx="73152" cy="73152"/>
          </a:xfrm>
          <a:prstGeom prst="ellipse">
            <a:avLst/>
          </a:prstGeom>
          <a:solidFill>
            <a:srgbClr val="C8641E"/>
          </a:solidFill>
          <a:ln w="6350">
            <a:solidFill>
              <a:srgbClr val="C8641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60099" y="5443823"/>
            <a:ext cx="82296" cy="82296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872353" y="4229671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11355271" y="609619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7819381" y="5294376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i*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10587175" y="592531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IS₀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097485" y="4269105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IS₁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8415318" y="4269105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IS₂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10150155" y="434797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11116897" y="518922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BP₀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11077168" y="4400550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BP₁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9660163" y="5136642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9527733" y="5636133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9196657" y="5478399"/>
            <a:ext cx="34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