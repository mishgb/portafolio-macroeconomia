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men" id="{b3b0ec1a-7a13-8837-e7f3-82be73bca9e3}">
          <p14:sldIdLst>
            <p14:sldId id="256"/>
            <p14:sldId id="257"/>
            <p14:sldId id="258"/>
          </p14:sldIdLst>
        </p14:section>
        <p14:section name="Nivel básico" id="{603c4c2c-881b-a695-e85b-a6e0310bb2ed}">
          <p14:sldIdLst>
            <p14:sldId id="259"/>
            <p14:sldId id="260"/>
          </p14:sldIdLst>
        </p14:section>
        <p14:section name="Nivel intermedio" id="{d769a81a-d9f5-a64a-74f8-300aa3ea83fa}">
          <p14:sldIdLst>
            <p14:sldId id="261"/>
            <p14:sldId id="262"/>
          </p14:sldIdLst>
        </p14:section>
        <p14:section name="Nivel difícil" id="{4df2296a-0070-07d4-b69a-103b00199294}">
          <p14:sldIdLst>
            <p14:sldId id="263"/>
            <p14:sldId id="264"/>
          </p14:sldIdLst>
        </p14:section>
        <p14:section name="Cierre" id="{5c9e5e4c-c37e-db28-08ef-6ec2f5b4a1c2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23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235"/>
                </a:solidFill>
                <a:latin typeface="+mn-lt"/>
              </a:rPr>
              <a:t>Crecimiento mundial por año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Case</c:v>
                </c:pt>
              </c:strCache>
            </c:strRef>
          </c:tx>
          <c:spPr>
            <a:solidFill>
              <a:srgbClr val="12B5A6"/>
            </a:solidFill>
            <a:ln w="38100" cap="flat">
              <a:solidFill>
                <a:srgbClr val="12B5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2B5A6"/>
              </a:solidFill>
              <a:ln w="9525" cap="flat">
                <a:solidFill>
                  <a:srgbClr val="12B5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A1</c:v>
                  </c:pt>
                  <c:pt idx="1">
                    <c:v>A2</c:v>
                  </c:pt>
                  <c:pt idx="2">
                    <c:v>A3</c:v>
                  </c:pt>
                  <c:pt idx="3">
                    <c:v>A4</c:v>
                  </c:pt>
                  <c:pt idx="4">
                    <c:v>A5</c:v>
                  </c:pt>
                  <c:pt idx="5">
                    <c:v>A6</c:v>
                  </c:pt>
                  <c:pt idx="6">
                    <c:v>A7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2.4</c:v>
                </c:pt>
                <c:pt idx="1">
                  <c:v>2.8</c:v>
                </c:pt>
                <c:pt idx="2">
                  <c:v>2</c:v>
                </c:pt>
                <c:pt idx="3">
                  <c:v>1.6</c:v>
                </c:pt>
                <c:pt idx="4">
                  <c:v>1</c:v>
                </c:pt>
                <c:pt idx="5">
                  <c:v>1.3</c:v>
                </c:pt>
                <c:pt idx="6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Rollercoaster</c:v>
                </c:pt>
              </c:strCache>
            </c:strRef>
          </c:tx>
          <c:spPr>
            <a:solidFill>
              <a:srgbClr val="FFB627"/>
            </a:solidFill>
            <a:ln w="38100" cap="flat">
              <a:solidFill>
                <a:srgbClr val="FFB6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FB627"/>
              </a:solidFill>
              <a:ln w="9525" cap="flat">
                <a:solidFill>
                  <a:srgbClr val="FFB6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A1</c:v>
                  </c:pt>
                  <c:pt idx="1">
                    <c:v>A2</c:v>
                  </c:pt>
                  <c:pt idx="2">
                    <c:v>A3</c:v>
                  </c:pt>
                  <c:pt idx="3">
                    <c:v>A4</c:v>
                  </c:pt>
                  <c:pt idx="4">
                    <c:v>A5</c:v>
                  </c:pt>
                  <c:pt idx="5">
                    <c:v>A6</c:v>
                  </c:pt>
                  <c:pt idx="6">
                    <c:v>A7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2.4</c:v>
                </c:pt>
                <c:pt idx="1">
                  <c:v>3.2</c:v>
                </c:pt>
                <c:pt idx="2">
                  <c:v>1.6</c:v>
                </c:pt>
                <c:pt idx="3">
                  <c:v>0.8</c:v>
                </c:pt>
                <c:pt idx="4">
                  <c:v>-0.4</c:v>
                </c:pt>
                <c:pt idx="5">
                  <c:v>0.2</c:v>
                </c:pt>
                <c:pt idx="6">
                  <c:v>1.6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Stagnation</c:v>
                </c:pt>
              </c:strCache>
            </c:strRef>
          </c:tx>
          <c:spPr>
            <a:solidFill>
              <a:srgbClr val="FF4F6D"/>
            </a:solidFill>
            <a:ln w="38100" cap="flat">
              <a:solidFill>
                <a:srgbClr val="FF4F6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F4F6D"/>
              </a:solidFill>
              <a:ln w="9525" cap="flat">
                <a:solidFill>
                  <a:srgbClr val="FF4F6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A1</c:v>
                  </c:pt>
                  <c:pt idx="1">
                    <c:v>A2</c:v>
                  </c:pt>
                  <c:pt idx="2">
                    <c:v>A3</c:v>
                  </c:pt>
                  <c:pt idx="3">
                    <c:v>A4</c:v>
                  </c:pt>
                  <c:pt idx="4">
                    <c:v>A5</c:v>
                  </c:pt>
                  <c:pt idx="5">
                    <c:v>A6</c:v>
                  </c:pt>
                  <c:pt idx="6">
                    <c:v>A7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2.4</c:v>
                </c:pt>
                <c:pt idx="1">
                  <c:v>2.6</c:v>
                </c:pt>
                <c:pt idx="2">
                  <c:v>2.2</c:v>
                </c:pt>
                <c:pt idx="3">
                  <c:v>2</c:v>
                </c:pt>
                <c:pt idx="4">
                  <c:v>1.7</c:v>
                </c:pt>
                <c:pt idx="5">
                  <c:v>1.9</c:v>
                </c:pt>
                <c:pt idx="6">
                  <c:v>2.2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2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D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23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123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23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1235"/>
                </a:solidFill>
                <a:latin typeface="+mn-lt"/>
              </a:rPr>
              <a:t>Promedio de aprobación por intento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Intento 1</c:v>
                </c:pt>
              </c:strCache>
            </c:strRef>
          </c:tx>
          <c:spPr>
            <a:solidFill>
              <a:srgbClr val="7B2CBF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2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Nivel básico</c:v>
                  </c:pt>
                  <c:pt idx="1">
                    <c:v>Nivel intermedio</c:v>
                  </c:pt>
                  <c:pt idx="2">
                    <c:v>Nivel difícil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84</c:v>
                </c:pt>
                <c:pt idx="2">
                  <c:v>91.4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Intento 2</c:v>
                </c:pt>
              </c:strCache>
            </c:strRef>
          </c:tx>
          <c:spPr>
            <a:solidFill>
              <a:srgbClr val="FF8C42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2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Nivel básico</c:v>
                  </c:pt>
                  <c:pt idx="1">
                    <c:v>Nivel intermedio</c:v>
                  </c:pt>
                  <c:pt idx="2">
                    <c:v>Nivel difícil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65.7</c:v>
                </c:pt>
                <c:pt idx="1">
                  <c:v>88.6</c:v>
                </c:pt>
                <c:pt idx="2">
                  <c:v>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Intento 3</c:v>
                </c:pt>
              </c:strCache>
            </c:strRef>
          </c:tx>
          <c:spPr>
            <a:solidFill>
              <a:srgbClr val="12B5A6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2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Nivel básico</c:v>
                  </c:pt>
                  <c:pt idx="1">
                    <c:v>Nivel intermedio</c:v>
                  </c:pt>
                  <c:pt idx="2">
                    <c:v>Nivel difícil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67.9</c:v>
                </c:pt>
                <c:pt idx="1">
                  <c:v>85</c:v>
                </c:pt>
                <c:pt idx="2">
                  <c:v>100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200" u="none">
                  <a:solidFill>
                    <a:srgbClr val="1F12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2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3D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23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123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las nueve corridas definitivas: tres intentos por nivel. Los círculos muestran el mejor promedio de cada nivel.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Promedio de aprobación sobre 100 en siete años. En cada nivel se jugaron tres intentos con estrategias distintas.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Año 1 es idéntico en los tres niveles. Rollercoaster cae hasta -0,4% en el Año 5; Stagnation nunca baja de 1,7%.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puntaje perfecto se logró con ajustes pequeños: tasa entre 2,5% y 3,5%, renta fija en 24% y gasto subiendo de 31 a 42,1. En el intento 2 el desempleo tocó su piso de 2,0% y el estímulo pasó de la producción a los precios: la inflación saltó a 8,7% en el Año 2. El intento 3 aisló el efecto de la tasa: bajarla de 3% a 0% aportó solo 0,3–0,5 pp de crecimiento por año, pero sumó hasta 2,9 pp de inflación. En los intentos 2 y 3 el déficit dio 0 puntos los siete años; el PIB real cerró en 194,5 y 188,8 frente a 122,8, con deuda superior al 100% del PIB. El simulador no castiga la insostenibilidad (no hay prima de riesgo ni crisis de deuda), aunque advirtió que ese gasto «no es realista».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márgenes fueron mínimos en el Año 5 (mundo 1,0%): crecimiento a 0,07 pp del umbral, déficit a 0,08 pp y desempleo a 0,1 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crecimiento mundial cae a −0,4% en el Año 5; desde ahí hubo que elegir entre crecimiento y déficit. La meta de 95 exigía al menos cinco años de 100. El máximo robusto estimado era ≈ 89, y se alcanzó. El Año 4 del mejor intento creció 2,0% (se estimaba 3,1%) y costó 15 puntos. Intento 1: el sobreestímulo del Año 4 (+$6, crecimiento 6,0%) generó un rebote negativo en el Año 5, en plena crisis. Intento 3: el presupuesto equilibrado dio cuatro años de 100 (promedio 97 tras el Año 5), pero subir la renta a 34–35% hundió el consumo 26% en tres años y el Año 7 cerró en −2,3% con 35 puntos.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el mundo en 0,8 / −0,4 / 0,2, un déficit menor a 3% y un crecimiento mayor a 2,5% no fueron compatibles con la renta en 24%: el gasto inicial (30% del PIB) ya superaba la recaudación (26,6%).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mundo nunca baja de 1,7%: el escenario resultó más benigno que Rollercoaster. Intento 1: los 60 puntos perdidos (Años 3, 4 y 6) eran evitables; las oscilaciones de tasa generaron ciclos de crecimiento de 3,7% y 1,3%. Intento 2: la austeridad costó 60 puntos en cinco años a cambio de 6 pp menos de deuda al Año 5; el simulador no premia la deuda baja ni el superávit. Crecer menos de 2,5% cuesta doble, porque también sube el desempleo: el Año 4 del intento 1 perdió 30 puntos. El puntaje perfecto se pagó con más deuda: 53,0% del PIB frente a 34,7%–43,0% en los otros intentos.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usada: la tasa más baja que deja la inflación estimada en 2,8% o menos, y el aumento de gasto necesario para crecer entre 3,0% y 3,3% cada 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3B0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C7EC"/>
                </a:solidFill>
              </a:rPr>
              <a:t>Econland (HBP) · Macroeconomía, Maestría GPP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C7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_TITULO">
    <p:bg>
      <p:bgPr>
        <a:solidFill>
          <a:srgbClr val="3B0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C7EC"/>
                </a:solidFill>
              </a:rPr>
              <a:t>Econland (HBP) · Macroeconomía, Maestría GPP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C7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7B"/>
                </a:solidFill>
              </a:rPr>
              <a:t>Econland (HBP) · Macroeconomía, Maestría GPP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C7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Econland: los tres niveles en un resumen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Simulación definitiva: Base Case, Rollercoaster y Stagnation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463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7EC"/>
                </a:solidFill>
              </a:rPr>
              <a:t>Macroeconomía · Maestría en Gestión y Políticas Públicas · Octubre de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0" y="1371600"/>
            <a:ext cx="1828800" cy="18288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Nivel básico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0" y="2606040"/>
            <a:ext cx="1828800" cy="18288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Nivel intermedio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0" y="384048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4389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Nivel difícil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C7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Mejor promedio por nivel: 100, 89 y 100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Nivel básico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Escenario Base Case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2743200"/>
            <a:ext cx="1645920" cy="16459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Tres intentos: 100 / 66 / 68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Ajustes pequeños, calibrados a los umbrales de cada indicador.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Nivel intermedio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Escenario Rollercoaster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2743200"/>
            <a:ext cx="1645920" cy="1645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Tres intentos: 84 / 89 / 85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crisis mundial obligó a elegir entre crecimiento y déficit.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Nivel difícil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Escenario Stagnation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52560" y="2743200"/>
            <a:ext cx="1645920" cy="1645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Tres intentos: 91 / 85 / 100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Crecimiento cercano a 3% constante, sin oscilaciones de tasa.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 crecimiento mundial es lo que distingue a los tres escenarios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63040"/>
            <a:ext cx="3749040" cy="457200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38160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Cómo se puntúa cada año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Hasta 25 puntos por indicador; fuera del umbral el puntaje es parcial.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38160" y="306324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Crecimiento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&gt; 2,5%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138160" y="37490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Desempleo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&lt; 5%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38160" y="44348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Inflación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&lt; 3%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38160" y="512064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86800" y="5074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Déficit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&lt; 3% del PIB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Nivel básico: la prudencia dio 100; el estímulo agresivo, 66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669280"/>
                <a:gridCol w="1371600"/>
                <a:gridCol w="155448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Intento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Estrategia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Promedio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PIB real final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Deuda / PIB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Prudente: decisiones calibradas a los umbrales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122,8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n/d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Crecimiento agresivo: tasa a 0% y gasto de 35 a 116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235"/>
                          </a:solidFill>
                        </a:rPr>
                        <a:t>65,7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194,5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106,4%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Mismo paquete fiscal con tasa fija en 3% y corrección a 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235"/>
                          </a:solidFill>
                        </a:rPr>
                        <a:t>67,9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188,8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116,9%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657600"/>
            <a:ext cx="347472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389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puntaje perfecto se logró con ajustes pequeños: tasa entre 2,5% y 3,5%, renta fija en 24% y gasto subiendo de 31 a 42,1.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43400" y="3657600"/>
            <a:ext cx="347472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0" y="3840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4389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el intento 2 el desempleo tocó su piso de 2,0% y el estímulo pasó de la producción a los precios: la inflación saltó a 8,7% en el Año 2.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38160" y="3657600"/>
            <a:ext cx="347472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3840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4389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intento 3 aisló el efecto de la tasa: bajarla de 3% a 0% aportó solo 0,3–0,5 pp de crecimiento por año, pero sumó hasta 2,9 pp de inflación.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Nivel básico: la mejor corrida, año por año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13232"/>
                <a:gridCol w="640080"/>
                <a:gridCol w="685800"/>
                <a:gridCol w="685800"/>
                <a:gridCol w="685800"/>
                <a:gridCol w="713232"/>
                <a:gridCol w="868680"/>
                <a:gridCol w="685800"/>
                <a:gridCol w="685800"/>
                <a:gridCol w="76809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Año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Mundo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Tasa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Renta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Empr.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Crec.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Desemp.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Infl.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Déf.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B5A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1,6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36,5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1,0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38,4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1,3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40,3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42,1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03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B7B"/>
                </a:solidFill>
              </a:rPr>
              <a:t>Mundo, tasa, impuestos (renta y empresas), crecimiento, desempleo, inflación y déficit en %; G = gasto público en $.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595360" y="1463040"/>
            <a:ext cx="3017520" cy="45720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/>
          <p:nvPr/>
        </p:nvSpPr>
        <p:spPr>
          <a:xfrm>
            <a:off x="9418320" y="1645920"/>
            <a:ext cx="1371600" cy="13716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3108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Intento 1 (700 de 700 puntos)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3703320"/>
            <a:ext cx="2560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márgenes fueron mínimos en el Año 5 (mundo 1,0%): crecimiento a 0,07 pp del umbral, déficit a 0,08 pp y desempleo a 0,1 pp.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Nivel intermedio: la crisis mundial puso el techo en 89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669280"/>
                <a:gridCol w="1371600"/>
                <a:gridCol w="155448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Intento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Estrategia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Promedio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PIB real final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Deuda / PIB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Estímulo reactivo, con sobreestímulo en el Año 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235"/>
                          </a:solidFill>
                        </a:rPr>
                        <a:t>84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127,6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67,1%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Control del déficit con impuestos estables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235"/>
                          </a:solidFill>
                        </a:rPr>
                        <a:t>88,6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125,3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65,0%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Experimento: financiar el gasto con impuesto a la renta (24% a 35%)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235"/>
                          </a:solidFill>
                        </a:rPr>
                        <a:t>85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n/d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74,5%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657600"/>
            <a:ext cx="347472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389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crecimiento mundial cae a −0,4% en el Año 5; desde ahí hubo que elegir entre crecimiento y déficit.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43400" y="3657600"/>
            <a:ext cx="347472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0" y="3840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4389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Intento 1: el sobreestímulo del Año 4 (+$6, crecimiento 6,0%) generó un rebote negativo en el Año 5, en plena crisis.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38160" y="3657600"/>
            <a:ext cx="347472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3840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4389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Intento 3: el presupuesto equilibrado dio cuatro años de 100 (promedio 97 tras el Año 5), pero subir la renta a 34–35% hundió el consumo 26% en tres años y el Año 7 cerró en −2,3% con 35 puntos.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Nivel intermedio: la mejor corrida, año por año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13232"/>
                <a:gridCol w="640080"/>
                <a:gridCol w="685800"/>
                <a:gridCol w="685800"/>
                <a:gridCol w="685800"/>
                <a:gridCol w="713232"/>
                <a:gridCol w="868680"/>
                <a:gridCol w="685800"/>
                <a:gridCol w="685800"/>
                <a:gridCol w="76809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Año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Mundo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Tasa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Renta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Empr.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Crec.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Desemp.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Infl.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Déf.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1235"/>
                          </a:solidFill>
                        </a:rPr>
                        <a:t>Pts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6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31,5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1,7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1,6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33,5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1,8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0,8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−0,4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0,2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46,5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6,6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75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1,6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50,5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7,5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75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03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B7B"/>
                </a:solidFill>
              </a:rPr>
              <a:t>Mundo, tasa, impuestos (renta y empresas), crecimiento, desempleo, inflación y déficit en %; G = gasto público en $.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595360" y="1463040"/>
            <a:ext cx="3017520" cy="45720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/>
          <p:nvPr/>
        </p:nvSpPr>
        <p:spPr>
          <a:xfrm>
            <a:off x="9418320" y="164592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3108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Intento 2 (promedio 88,6)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3703320"/>
            <a:ext cx="2560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 el mundo en 0,8 / −0,4 / 0,2, un déficit menor a 3% y un crecimiento mayor a 2,5% no fueron compatibles con la renta en 24%: el gasto inicial (30% del PIB) ya superaba la recaudación (26,6%).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Nivel difícil: la estabilidad llevó de 91 a 100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669280"/>
                <a:gridCol w="1371600"/>
                <a:gridCol w="155448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Intento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Estrategia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Promedio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PIB real final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Deuda / PIB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Elecciones año a año, con ciclos de tasa (2,0% ↔ 3,0%)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235"/>
                          </a:solidFill>
                        </a:rPr>
                        <a:t>91,4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122,6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43,0%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Austeridad cinco años (gasto en $30) y cierre expansivo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235"/>
                          </a:solidFill>
                        </a:rPr>
                        <a:t>85,0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120,4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34,7%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Estímulo fiscal gradual con tasa estable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124,3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53,0%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657600"/>
            <a:ext cx="347472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389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Intento 1: los 60 puntos perdidos (Años 3, 4 y 6) eran evitables; las oscilaciones de tasa generaron ciclos de crecimiento de 3,7% y 1,3%.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43400" y="3657600"/>
            <a:ext cx="347472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4389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Intento 2: la austeridad costó 60 puntos en cinco años a cambio de 6 pp menos de deuda al Año 5; el simulador no premia la deuda baja ni el superávit.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38160" y="3657600"/>
            <a:ext cx="347472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438912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puntaje perfecto se pagó con más deuda: 53,0% del PIB frente a 34,7%–43,0% en los otros intentos.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Nivel difícil: la mejor corrida, año por año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13232"/>
                <a:gridCol w="640080"/>
                <a:gridCol w="685800"/>
                <a:gridCol w="685800"/>
                <a:gridCol w="685800"/>
                <a:gridCol w="713232"/>
                <a:gridCol w="868680"/>
                <a:gridCol w="685800"/>
                <a:gridCol w="685800"/>
                <a:gridCol w="76809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Año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Mundo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Tasa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Renta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Empr.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Crec.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Desemp.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Infl.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Déf.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6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33,5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1,8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1,5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1,7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37,5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1,8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1,9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42,5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3,4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4,5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1235"/>
                          </a:solidFill>
                        </a:rPr>
                        <a:t>2,3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1235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03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B7B"/>
                </a:solidFill>
              </a:rPr>
              <a:t>Mundo, tasa, impuestos (renta y empresas), crecimiento, desempleo, inflación y déficit en %; G = gasto público en $.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595360" y="1463040"/>
            <a:ext cx="3017520" cy="45720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/>
          <p:nvPr/>
        </p:nvSpPr>
        <p:spPr>
          <a:xfrm>
            <a:off x="9418320" y="164592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3108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Intento 3 (700 de 700 puntos)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3703320"/>
            <a:ext cx="2560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Regla usada: la tasa más baja que deja la inflación estimada en 2,8% o menos, y el aumento de gasto necesario para crecer entre 3,0% y 3,3% cada año.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Nueve intentos: el promedio fue de 66 a 100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6304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046720" y="162763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5820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Básico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199339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100 salió en el intento 1; los otros dos fueron pruebas de estímulo agresivo.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863840" y="301752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8046720" y="318211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5820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Intermedio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354787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Ningún intento llegó a 90: el techo estimado con impuestos estables era 89.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863840" y="4572000"/>
            <a:ext cx="3749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8046720" y="473659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45820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Difícil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510235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100 llegó en el intento 3, tras corregir los 60 puntos evitables del intento 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Cuatro reglas estimadas guiaron las decisiones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480560"/>
                <a:gridCol w="4846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Indicador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Regla estimada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Qué tan bien funcionó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B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235"/>
                          </a:solidFill>
                        </a:rPr>
                        <a:t>Inflación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12,68 − 1,56 · desempleo(t−1) − 0,98 · tasa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Acertó en todos los niveles, con error de hasta 0,16 pp. Depende del nivel de la tasa, no de su variación.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235"/>
                          </a:solidFill>
                        </a:rPr>
                        <a:t>Desempleo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7,16 − 0,43 · g(t) − 0,42 · g(t−1)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Crecer cerca de 3% cada año lo mantiene entre 4,4% y 4,6%.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235"/>
                          </a:solidFill>
                        </a:rPr>
                        <a:t>Crecimiento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≈ crecimiento mundial + impulso del gasto − alza de tasa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La regla menos estable: falla con impulsos grandes y el efecto de la tasa es asimétrico.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235"/>
                          </a:solidFill>
                        </a:rPr>
                        <a:t>Déficit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Gasto − recaudación (≈ 26,6% del PIB nominal)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235"/>
                          </a:solidFill>
                        </a:rPr>
                        <a:t>Identidad exacta. Se cierra solo si el gasto crece menos que el PIB nominal.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B7B"/>
                </a:solidFill>
              </a:rPr>
              <a:t>Las reglas son aproximaciones propias, estimadas con los resultados de las corridas; g = crecimiento, t = año.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Cinco lecciones para decidir política macroeconómica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Un instrumento por objetivo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15544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DCF7"/>
                </a:solidFill>
              </a:rPr>
              <a:t>Gasto para crecimiento y desempleo, tasa para inflación, impuestos para déficit.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4688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La estabilidad maximiza el puntaje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24688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DCF7"/>
                </a:solidFill>
              </a:rPr>
              <a:t>Crecer cerca de 3% cada año, sin oscilaciones de tasa ni correcciones grandes simultáneas.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3832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 bajar la tasa para crecer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33832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DCF7"/>
                </a:solidFill>
              </a:rPr>
              <a:t>Aporta décimas de crecimiento y cuesta puntos de inflación.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297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Crear espacio fiscal antes de la crisis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42976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DCF7"/>
                </a:solidFill>
              </a:rPr>
              <a:t>En Rollercoaster el déficit menor a 3% fue inalcanzable desde el Año 5.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21208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5212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El simulador no penaliza la deuda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5212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DCF7"/>
                </a:solidFill>
              </a:rPr>
              <a:t>Solo cuenta el déficit menor a 3%; por eso un 100 puede convivir con más deuda.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C7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nland Vibrante">
  <a:themeElements>
    <a:clrScheme name="Econland Vibrante">
      <a:dk1>
        <a:srgbClr val="1F1235"/>
      </a:dk1>
      <a:lt1>
        <a:srgbClr val="FFFFFF"/>
      </a:lt1>
      <a:dk2>
        <a:srgbClr val="3B0F5C"/>
      </a:dk2>
      <a:lt2>
        <a:srgbClr val="F4EEFA"/>
      </a:lt2>
      <a:accent1>
        <a:srgbClr val="FF4F6D"/>
      </a:accent1>
      <a:accent2>
        <a:srgbClr val="FFB627"/>
      </a:accent2>
      <a:accent3>
        <a:srgbClr val="12B5A6"/>
      </a:accent3>
      <a:accent4>
        <a:srgbClr val="7B2CBF"/>
      </a:accent4>
      <a:accent5>
        <a:srgbClr val="FF8C42"/>
      </a:accent5>
      <a:accent6>
        <a:srgbClr val="5C6BC0"/>
      </a:accent6>
      <a:hlink>
        <a:srgbClr val="7B2CBF"/>
      </a:hlink>
      <a:folHlink>
        <a:srgbClr val="3B0F5C"/>
      </a:folHlink>
    </a:clrScheme>
    <a:fontScheme name="Econland Vibran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Econland: resumen de los tres niveles</dc:title>
  <dc:subject>PptxGenJS Presentation</dc:subject>
  <dc:creator>Henning</dc:creator>
  <cp:lastModifiedBy>Henning</cp:lastModifiedBy>
  <cp:revision>1</cp:revision>
  <dcterms:created xsi:type="dcterms:W3CDTF">2026-10-09T04:44:49Z</dcterms:created>
  <dcterms:modified xsi:type="dcterms:W3CDTF">2026-10-09T04:44:49Z</dcterms:modified>
</cp:coreProperties>
</file>